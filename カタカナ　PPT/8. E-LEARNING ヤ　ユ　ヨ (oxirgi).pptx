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82" r:id="rId2"/>
    <p:sldId id="295" r:id="rId3"/>
    <p:sldId id="257" r:id="rId4"/>
    <p:sldId id="291" r:id="rId5"/>
    <p:sldId id="258" r:id="rId6"/>
    <p:sldId id="292" r:id="rId7"/>
    <p:sldId id="270" r:id="rId8"/>
    <p:sldId id="294" r:id="rId9"/>
    <p:sldId id="275" r:id="rId10"/>
    <p:sldId id="286" r:id="rId11"/>
    <p:sldId id="284" r:id="rId12"/>
    <p:sldId id="290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32BBE0"/>
    <a:srgbClr val="944F38"/>
    <a:srgbClr val="F9988B"/>
    <a:srgbClr val="70AD47"/>
    <a:srgbClr val="F8CCA4"/>
    <a:srgbClr val="FEF17D"/>
    <a:srgbClr val="F6C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2915A6-9DFA-4590-8085-AF8060F318C1}" v="39" dt="2026-02-23T05:05:48.4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0" autoAdjust="0"/>
    <p:restoredTop sz="94660"/>
  </p:normalViewPr>
  <p:slideViewPr>
    <p:cSldViewPr snapToGrid="0">
      <p:cViewPr varScale="1">
        <p:scale>
          <a:sx n="78" d="100"/>
          <a:sy n="78" d="100"/>
        </p:scale>
        <p:origin x="78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z-Latn-UZ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B7731D-A5FC-4D10-ACB4-474E73000112}" type="datetimeFigureOut">
              <a:rPr lang="uz-Latn-UZ" smtClean="0"/>
              <a:t>23/02/2026</a:t>
            </a:fld>
            <a:endParaRPr lang="uz-Latn-UZ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z-Latn-UZ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z-Latn-UZ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z-Latn-UZ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F50689-DEA1-4C60-983A-F5CB66E30740}" type="slidenum">
              <a:rPr lang="uz-Latn-UZ" smtClean="0"/>
              <a:t>‹#›</a:t>
            </a:fld>
            <a:endParaRPr lang="uz-Latn-UZ"/>
          </a:p>
        </p:txBody>
      </p:sp>
    </p:spTree>
    <p:extLst>
      <p:ext uri="{BB962C8B-B14F-4D97-AF65-F5344CB8AC3E}">
        <p14:creationId xmlns:p14="http://schemas.microsoft.com/office/powerpoint/2010/main" val="972451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50689-DEA1-4C60-983A-F5CB66E30740}" type="slidenum">
              <a:rPr lang="uz-Latn-UZ" smtClean="0"/>
              <a:t>1</a:t>
            </a:fld>
            <a:endParaRPr lang="uz-Latn-UZ"/>
          </a:p>
        </p:txBody>
      </p:sp>
    </p:spTree>
    <p:extLst>
      <p:ext uri="{BB962C8B-B14F-4D97-AF65-F5344CB8AC3E}">
        <p14:creationId xmlns:p14="http://schemas.microsoft.com/office/powerpoint/2010/main" val="2951721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A91985-99C2-B7BD-28BC-F5B67AC1C2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A7944E5-0B09-2BE5-12EE-161B908104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BA09D6-80C3-7E64-B655-E3980D1BC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8B6C56-52F2-2475-9172-1402F7330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2996026-2F34-5DBD-B916-625515298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507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9839D7-D546-2CC0-647A-9F037D071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0732E3-2E98-DBB8-D33C-A7FDFF92DE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934B46-A1B2-8C25-13B6-8065D00AA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DB7CDE-6C1A-0D54-50BB-7634EF829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7EF067D-CF74-032A-0DD3-82D33204A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2983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AA4249-C49E-B03A-97D8-A12E3F8F0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CE35A01-61D5-EB5B-2CA8-0784BF520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B9079F-D40D-D84D-8AA3-641B8AD5F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C5283B8-309E-6CFE-935D-B4C6DDBE3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4D1BCD-00A1-154C-78B9-4D2AF98C9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851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4E4EB1-A1F1-26C3-C8AE-208481134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D6C9F8-788B-9B22-BB6D-0A21452A39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6C860A9-0AE0-5D61-B151-16929B73D6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17570AC-5B40-9F5C-7995-7043BD4F8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0C40C34-01AE-BE85-0AAC-E1F1DE09C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64AE3DE-E564-AF84-7F70-87111456B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3787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275BB4-1274-0134-6273-58957B5C8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7072EBC-2512-112F-80FA-DBD1C73C98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C143089-BEA7-D2C0-AFEA-00C475BE78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C77C92C-1256-5FDF-C852-795B1884E2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5E956DA-7785-4D41-692E-F20E1C558B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5382BD8-99DE-DD8D-0527-A51594262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20095A3-9378-D751-F105-7F80A3B7F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AEEAA77-B307-887D-8ED1-3A6E66A55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8378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2C0042-D2CE-DC4A-9C72-C27F0ACCE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2D3075D-2E8B-DCDE-90F0-D48B33586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20C16A2-9883-1100-AC65-DB2B050AD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DAA1166-129F-EC78-E258-ED9DFA53F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9361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38FAF73-AE3E-D9CC-7DBA-B787AF779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82CD6E2-BE00-EEC1-CF32-3F0B72057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6B190F6-EA1E-2ABC-C24D-11434C49F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3460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B53D46-AE90-4DB7-3976-3A1AD7103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9BE12E-2E53-435F-CA1E-21A56F8347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8DA1889-30C3-6134-3121-696A4FC1EC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5B51E33-C5FE-6CDE-7F22-380E5A310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382FAA6-F200-B31D-1DE0-CD3605341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66A84BD-E66D-F65D-CBD8-24CA6AA3D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4685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99707C-BB6D-6077-A500-E8262E108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54BB837-E662-99F7-CE70-13330A8BFA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B9D8E05-331D-F630-6C48-42E0672B25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25FB527-DF30-91B7-E040-778E0808A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9060B4E-361E-E28B-4C79-B76257DD7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56F6CF9-85B2-313D-7FA7-11E340049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1567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8517AD-A953-4B41-C99E-4B6345AA3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670ABC3-C95E-B63B-E96F-BA18581D77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7E2DE09-5FA7-C0A7-13D6-25D212373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248ED7F-6555-B16C-DC8D-8A05A25F8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FC618F3-EBD3-5E95-AB37-DDCE0E30B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9431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8FA6972-F570-0155-AF1C-6F415709EB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2C90C2C-5D00-79EC-3CB6-D53DC423EF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3737A90-638E-FC1E-BE5E-67CDC93B9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B95D1C3-EA78-2E2C-1B8E-D070EFF31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3DCA1C-3FD9-B960-8122-D00C4BE26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0505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4A9EAA-D8AA-9D1A-5C32-F100F921A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B268D6C-EE88-8984-6F4B-9415EE6BE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80603C5-2ED5-5F6C-DDE8-18C15E411A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8A300A-2A04-4861-8880-6C52272F1B90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7CE5A0-F38A-7907-8C22-2D63B88FE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33F53FC-C0C7-0FF6-CB8F-37FCA56F0D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3178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8.png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gi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1.png"/><Relationship Id="rId7" Type="http://schemas.openxmlformats.org/officeDocument/2006/relationships/image" Target="../media/image13.gi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12.gif"/><Relationship Id="rId5" Type="http://schemas.openxmlformats.org/officeDocument/2006/relationships/image" Target="../media/image10.gif"/><Relationship Id="rId4" Type="http://schemas.openxmlformats.org/officeDocument/2006/relationships/image" Target="../media/image9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18.gif"/><Relationship Id="rId5" Type="http://schemas.openxmlformats.org/officeDocument/2006/relationships/image" Target="../media/image17.gif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gi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gif"/><Relationship Id="rId3" Type="http://schemas.openxmlformats.org/officeDocument/2006/relationships/image" Target="../media/image11.png"/><Relationship Id="rId7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22.gif"/><Relationship Id="rId5" Type="http://schemas.openxmlformats.org/officeDocument/2006/relationships/image" Target="../media/image21.gif"/><Relationship Id="rId4" Type="http://schemas.openxmlformats.org/officeDocument/2006/relationships/image" Target="../media/image9.png"/><Relationship Id="rId9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29.png"/><Relationship Id="rId4" Type="http://schemas.openxmlformats.org/officeDocument/2006/relationships/image" Target="../media/image3.png"/><Relationship Id="rId9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415061-2F8F-CF2F-4C46-FA711EF306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2AAFCBB-D3D6-73CB-2E2A-453623A790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514D3E0-BA9E-381E-0604-5177066054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4580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176F0C5-BB76-F044-1998-7E49F13C51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5579" y="409767"/>
            <a:ext cx="1576803" cy="1551755"/>
          </a:xfrm>
          <a:prstGeom prst="rect">
            <a:avLst/>
          </a:prstGeom>
        </p:spPr>
      </p:pic>
      <p:sp>
        <p:nvSpPr>
          <p:cNvPr id="6" name="Rectangle: Rounded Corners 7">
            <a:extLst>
              <a:ext uri="{FF2B5EF4-FFF2-40B4-BE49-F238E27FC236}">
                <a16:creationId xmlns:a16="http://schemas.microsoft.com/office/drawing/2014/main" id="{20E101F1-8D9D-3615-2D50-FF7E921303F3}"/>
              </a:ext>
            </a:extLst>
          </p:cNvPr>
          <p:cNvSpPr/>
          <p:nvPr/>
        </p:nvSpPr>
        <p:spPr>
          <a:xfrm>
            <a:off x="297486" y="463548"/>
            <a:ext cx="4407864" cy="783706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3800" b="1" dirty="0">
                <a:ea typeface="UD Digi Kyokasho N" panose="02020400000000000000" pitchFamily="17" charset="-128"/>
              </a:rPr>
              <a:t>NIHONGO</a:t>
            </a:r>
            <a:r>
              <a:rPr lang="uz-Latn-UZ" altLang="ja-JP" sz="3800" b="1" dirty="0">
                <a:ea typeface="UD Digi Kyokasho N" panose="02020400000000000000" pitchFamily="17" charset="-128"/>
              </a:rPr>
              <a:t> NO MICHI</a:t>
            </a:r>
            <a:endParaRPr lang="en-US" sz="3800" b="1" dirty="0">
              <a:ea typeface="UD Digi Kyokasho N" panose="02020400000000000000" pitchFamily="17" charset="-128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F2FF11-010B-BAAF-70C7-9ED0759616A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458"/>
          <a:stretch>
            <a:fillRect/>
          </a:stretch>
        </p:blipFill>
        <p:spPr>
          <a:xfrm>
            <a:off x="6406186" y="4270721"/>
            <a:ext cx="1345558" cy="19858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4564E30-38C3-41E0-E8E5-94ACB03DDC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3866185" y="4234323"/>
            <a:ext cx="1403172" cy="202226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DE18786-6875-8076-929D-304056D657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76344" y="4669133"/>
            <a:ext cx="922856" cy="1210967"/>
          </a:xfrm>
          <a:prstGeom prst="rect">
            <a:avLst/>
          </a:prstGeom>
        </p:spPr>
      </p:pic>
      <p:sp>
        <p:nvSpPr>
          <p:cNvPr id="11" name="Rectangle: Rounded Corners 8">
            <a:extLst>
              <a:ext uri="{FF2B5EF4-FFF2-40B4-BE49-F238E27FC236}">
                <a16:creationId xmlns:a16="http://schemas.microsoft.com/office/drawing/2014/main" id="{4843CEAE-3668-19D1-E19D-14BF98BF0A49}"/>
              </a:ext>
            </a:extLst>
          </p:cNvPr>
          <p:cNvSpPr/>
          <p:nvPr/>
        </p:nvSpPr>
        <p:spPr>
          <a:xfrm>
            <a:off x="2699232" y="1472730"/>
            <a:ext cx="6277079" cy="2575691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4000" b="1" dirty="0">
                <a:ea typeface="UD Digi Kyokasho N" panose="02020400000000000000" pitchFamily="17" charset="-128"/>
              </a:rPr>
              <a:t>ALIFBO: KATAKANA </a:t>
            </a:r>
          </a:p>
          <a:p>
            <a:pPr algn="ctr"/>
            <a:r>
              <a:rPr lang="ja-JP" altLang="en-US" sz="42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ヤ　</a:t>
            </a:r>
            <a:r>
              <a:rPr lang="ja-JP" altLang="en-US" sz="4200" b="1" dirty="0">
                <a:solidFill>
                  <a:schemeClr val="accent1">
                    <a:lumMod val="75000"/>
                  </a:schemeClr>
                </a:solidFill>
                <a:ea typeface="UD Digi Kyokasho N" panose="02020400000000000000" pitchFamily="17" charset="-128"/>
              </a:rPr>
              <a:t>ユ</a:t>
            </a:r>
            <a:r>
              <a:rPr lang="ja-JP" altLang="en-US" sz="42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　</a:t>
            </a:r>
            <a:r>
              <a:rPr lang="ja-JP" altLang="en-US" sz="4200" b="1" dirty="0">
                <a:solidFill>
                  <a:srgbClr val="92D050"/>
                </a:solidFill>
                <a:ea typeface="UD Digi Kyokasho N" panose="02020400000000000000" pitchFamily="17" charset="-128"/>
              </a:rPr>
              <a:t>ヨ</a:t>
            </a:r>
            <a:r>
              <a:rPr lang="ja-JP" altLang="en-US" sz="42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　　</a:t>
            </a:r>
            <a:endParaRPr lang="en-US" altLang="ja-JP" sz="4200" b="1" dirty="0">
              <a:solidFill>
                <a:srgbClr val="7030A0"/>
              </a:solidFill>
              <a:ea typeface="UD Digi Kyokasho N" panose="02020400000000000000" pitchFamily="17" charset="-128"/>
            </a:endParaRPr>
          </a:p>
          <a:p>
            <a:pPr algn="ctr"/>
            <a:r>
              <a:rPr lang="en-US" altLang="ja-JP" sz="4000" b="1" dirty="0">
                <a:solidFill>
                  <a:srgbClr val="7030A0"/>
                </a:solidFill>
                <a:ea typeface="UD Digi Kyokasho N" panose="02020400000000000000" pitchFamily="17" charset="-128"/>
              </a:rPr>
              <a:t> </a:t>
            </a:r>
            <a:r>
              <a:rPr lang="en-US" altLang="ja-JP" sz="40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YA</a:t>
            </a:r>
            <a:r>
              <a:rPr lang="ja-JP" altLang="en-US" sz="40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 </a:t>
            </a:r>
            <a:r>
              <a:rPr lang="en-US" altLang="ja-JP" sz="40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 </a:t>
            </a:r>
            <a:r>
              <a:rPr lang="ja-JP" altLang="en-US" sz="40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 </a:t>
            </a:r>
            <a:r>
              <a:rPr lang="en-US" altLang="ja-JP" sz="4000" b="1" dirty="0">
                <a:solidFill>
                  <a:srgbClr val="7030A0"/>
                </a:solidFill>
                <a:ea typeface="UD Digi Kyokasho N" panose="02020400000000000000" pitchFamily="17" charset="-128"/>
              </a:rPr>
              <a:t> </a:t>
            </a:r>
            <a:r>
              <a:rPr lang="en-US" altLang="ja-JP" sz="4000" b="1" dirty="0">
                <a:solidFill>
                  <a:schemeClr val="accent1">
                    <a:lumMod val="75000"/>
                  </a:schemeClr>
                </a:solidFill>
                <a:ea typeface="UD Digi Kyokasho N" panose="02020400000000000000" pitchFamily="17" charset="-128"/>
              </a:rPr>
              <a:t>YU</a:t>
            </a:r>
            <a:r>
              <a:rPr lang="en-US" altLang="ja-JP" sz="4000" b="1" dirty="0">
                <a:solidFill>
                  <a:srgbClr val="7030A0"/>
                </a:solidFill>
                <a:ea typeface="UD Digi Kyokasho N" panose="02020400000000000000" pitchFamily="17" charset="-128"/>
              </a:rPr>
              <a:t> </a:t>
            </a:r>
            <a:r>
              <a:rPr lang="ja-JP" altLang="en-US" sz="4000" b="1" dirty="0">
                <a:solidFill>
                  <a:srgbClr val="7030A0"/>
                </a:solidFill>
                <a:ea typeface="UD Digi Kyokasho N" panose="02020400000000000000" pitchFamily="17" charset="-128"/>
              </a:rPr>
              <a:t> </a:t>
            </a:r>
            <a:r>
              <a:rPr lang="en-US" altLang="ja-JP" sz="4000" b="1" dirty="0">
                <a:solidFill>
                  <a:srgbClr val="7030A0"/>
                </a:solidFill>
                <a:ea typeface="UD Digi Kyokasho N" panose="02020400000000000000" pitchFamily="17" charset="-128"/>
              </a:rPr>
              <a:t>  </a:t>
            </a:r>
            <a:r>
              <a:rPr lang="ja-JP" altLang="en-US" sz="4000" b="1" dirty="0">
                <a:solidFill>
                  <a:srgbClr val="7030A0"/>
                </a:solidFill>
                <a:ea typeface="UD Digi Kyokasho N" panose="02020400000000000000" pitchFamily="17" charset="-128"/>
              </a:rPr>
              <a:t> </a:t>
            </a:r>
            <a:r>
              <a:rPr lang="en-US" altLang="ja-JP" sz="4000" b="1" dirty="0">
                <a:solidFill>
                  <a:srgbClr val="92D050"/>
                </a:solidFill>
                <a:ea typeface="UD Digi Kyokasho N" panose="02020400000000000000" pitchFamily="17" charset="-128"/>
              </a:rPr>
              <a:t>YO</a:t>
            </a:r>
            <a:endParaRPr lang="ru-RU" altLang="ja-JP" sz="4000" b="1" dirty="0">
              <a:solidFill>
                <a:srgbClr val="7030A0"/>
              </a:solidFill>
              <a:ea typeface="UD Digi Kyokasho N" panose="020204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2548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197"/>
    </mc:Choice>
    <mc:Fallback xmlns="">
      <p:transition spd="slow" advTm="3619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B30135E-EC69-C259-E5D1-E0DC80FFB0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64468"/>
          </a:xfrm>
          <a:prstGeom prst="rect">
            <a:avLst/>
          </a:prstGeom>
        </p:spPr>
      </p:pic>
      <p:cxnSp>
        <p:nvCxnSpPr>
          <p:cNvPr id="18" name="Straight Connector 17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2" descr="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: Rounded Corners 19"/>
          <p:cNvSpPr/>
          <p:nvPr/>
        </p:nvSpPr>
        <p:spPr>
          <a:xfrm>
            <a:off x="405092" y="367029"/>
            <a:ext cx="2815729" cy="523235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</a:rPr>
              <a:t>KATAKANA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E4493D0-38C1-F529-53BD-7309571D72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" t="1967" r="575" b="1639"/>
          <a:stretch>
            <a:fillRect/>
          </a:stretch>
        </p:blipFill>
        <p:spPr>
          <a:xfrm>
            <a:off x="323852" y="1047750"/>
            <a:ext cx="9448793" cy="521063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FD7375D-3C03-DBAD-2D13-AC6C7920305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7021" y="538835"/>
            <a:ext cx="1396346" cy="6228459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464"/>
    </mc:Choice>
    <mc:Fallback xmlns="">
      <p:transition spd="slow" advTm="314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C9EC2C-4971-FD33-7A34-069AFC06D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23F6E53-4B74-17AC-2546-322B154F1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5A449E80-98B4-FD52-DDAE-DF308C15D107}"/>
              </a:ext>
            </a:extLst>
          </p:cNvPr>
          <p:cNvSpPr txBox="1">
            <a:spLocks/>
          </p:cNvSpPr>
          <p:nvPr/>
        </p:nvSpPr>
        <p:spPr>
          <a:xfrm>
            <a:off x="4123866" y="1316212"/>
            <a:ext cx="976684" cy="629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5006D62-6A07-2C0A-3C51-560439C20F09}"/>
              </a:ext>
            </a:extLst>
          </p:cNvPr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2" descr="Logo">
            <a:extLst>
              <a:ext uri="{FF2B5EF4-FFF2-40B4-BE49-F238E27FC236}">
                <a16:creationId xmlns:a16="http://schemas.microsoft.com/office/drawing/2014/main" id="{85ABA37F-EB1F-F22B-7FF7-A927338122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CD19FE8-9D13-DA4A-A275-5CF63568582A}"/>
              </a:ext>
            </a:extLst>
          </p:cNvPr>
          <p:cNvSpPr/>
          <p:nvPr/>
        </p:nvSpPr>
        <p:spPr>
          <a:xfrm>
            <a:off x="299804" y="345108"/>
            <a:ext cx="6520722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KATAKANA</a:t>
            </a:r>
            <a:r>
              <a:rPr lang="uz-Latn-UZ" sz="4000" b="1" dirty="0"/>
              <a:t> YOZILISH TARTIBI</a:t>
            </a:r>
            <a:endParaRPr lang="en-US" sz="4000" b="1" dirty="0"/>
          </a:p>
        </p:txBody>
      </p:sp>
      <p:sp>
        <p:nvSpPr>
          <p:cNvPr id="16" name="Скругленный прямоугольник 15"/>
          <p:cNvSpPr/>
          <p:nvPr/>
        </p:nvSpPr>
        <p:spPr>
          <a:xfrm>
            <a:off x="3924444" y="1131893"/>
            <a:ext cx="2352211" cy="66908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cs typeface="Times New Roman" panose="02020603050405020304" pitchFamily="18" charset="0"/>
              </a:rPr>
              <a:t>YA</a:t>
            </a:r>
            <a:endParaRPr lang="uz-Latn-UZ" sz="3600" b="1" dirty="0">
              <a:cs typeface="Times New Roman" panose="02020603050405020304" pitchFamily="18" charset="0"/>
            </a:endParaRP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D2C6157F-0A32-A5BE-E8AE-C80537208E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0" t="1351" r="911" b="740"/>
          <a:stretch>
            <a:fillRect/>
          </a:stretch>
        </p:blipFill>
        <p:spPr>
          <a:xfrm>
            <a:off x="2998841" y="1875006"/>
            <a:ext cx="4237700" cy="4260323"/>
          </a:xfrm>
          <a:prstGeom prst="rect">
            <a:avLst/>
          </a:prstGeom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070102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D0F8D-B0C9-24D7-7D29-2BE0C31A1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C9801F8-A8FA-8468-EDF5-2641AE6525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484"/>
            <a:ext cx="12171267" cy="6846337"/>
          </a:xfrm>
          <a:prstGeom prst="rect">
            <a:avLst/>
          </a:prstGeom>
        </p:spPr>
      </p:pic>
      <p:sp>
        <p:nvSpPr>
          <p:cNvPr id="6" name="Rectangle: Rounded Corners 6">
            <a:extLst>
              <a:ext uri="{FF2B5EF4-FFF2-40B4-BE49-F238E27FC236}">
                <a16:creationId xmlns:a16="http://schemas.microsoft.com/office/drawing/2014/main" id="{E361B3CA-7CD6-2CC0-F534-CB815B422195}"/>
              </a:ext>
            </a:extLst>
          </p:cNvPr>
          <p:cNvSpPr/>
          <p:nvPr/>
        </p:nvSpPr>
        <p:spPr>
          <a:xfrm>
            <a:off x="1677924" y="4131558"/>
            <a:ext cx="2919470" cy="651154"/>
          </a:xfrm>
          <a:prstGeom prst="roundRect">
            <a:avLst/>
          </a:prstGeom>
          <a:solidFill>
            <a:sysClr val="window" lastClr="FFFFFF"/>
          </a:solidFill>
          <a:ln w="57150" cap="flat" cmpd="sng" algn="ctr">
            <a:solidFill>
              <a:srgbClr val="2F559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4000" b="1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YA </a:t>
            </a:r>
            <a:r>
              <a:rPr lang="ja-JP" altLang="en-US" sz="4000" b="1" kern="0" noProof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ja-JP" sz="4000" b="1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uz-Latn-UZ" sz="4000" b="1" kern="0" noProof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4000" b="1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kumimoji="0" lang="uz-Latn-UZ" sz="4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234D48D-C38A-4AFE-F143-1AA119645E8B}"/>
              </a:ext>
            </a:extLst>
          </p:cNvPr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 descr="Logo">
            <a:extLst>
              <a:ext uri="{FF2B5EF4-FFF2-40B4-BE49-F238E27FC236}">
                <a16:creationId xmlns:a16="http://schemas.microsoft.com/office/drawing/2014/main" id="{4CCC0B64-A50B-60C5-1B29-B5D84859A1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: Rounded Corners 13">
            <a:extLst>
              <a:ext uri="{FF2B5EF4-FFF2-40B4-BE49-F238E27FC236}">
                <a16:creationId xmlns:a16="http://schemas.microsoft.com/office/drawing/2014/main" id="{C2F39023-5502-F21C-D7C3-B064D68DF9ED}"/>
              </a:ext>
            </a:extLst>
          </p:cNvPr>
          <p:cNvSpPr/>
          <p:nvPr/>
        </p:nvSpPr>
        <p:spPr>
          <a:xfrm>
            <a:off x="405092" y="505102"/>
            <a:ext cx="6637454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SO’ZLAR</a:t>
            </a:r>
          </a:p>
        </p:txBody>
      </p:sp>
      <p:pic>
        <p:nvPicPr>
          <p:cNvPr id="9" name="Рисунок 8" descr="Изображение выглядит как снимок экрана, линия, символ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177945D-2F8F-B4A4-5E7D-A360227211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336" y="2223089"/>
            <a:ext cx="1511862" cy="1511862"/>
          </a:xfrm>
          <a:prstGeom prst="rect">
            <a:avLst/>
          </a:prstGeom>
        </p:spPr>
      </p:pic>
      <p:pic>
        <p:nvPicPr>
          <p:cNvPr id="16" name="Рисунок 15" descr="Изображение выглядит как снимок экрана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BC37986-B03E-FDC6-B77C-9CC1011E5DC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064" y="2222233"/>
            <a:ext cx="1512718" cy="1512718"/>
          </a:xfrm>
          <a:prstGeom prst="rect">
            <a:avLst/>
          </a:prstGeom>
        </p:spPr>
      </p:pic>
      <p:pic>
        <p:nvPicPr>
          <p:cNvPr id="18" name="Рисунок 17" descr="Изображение выглядит как линия, снимок экрана, Прямоугольник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F6CE97C-FF47-D1FE-DFDE-734E3072EE3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3648" y="2200903"/>
            <a:ext cx="1555377" cy="1555377"/>
          </a:xfrm>
          <a:prstGeom prst="rect">
            <a:avLst/>
          </a:prstGeom>
        </p:spPr>
      </p:pic>
      <p:sp>
        <p:nvSpPr>
          <p:cNvPr id="8" name="AutoShape 8" descr="フリーイラスト] スポーツカーのトヨタ86 | パブリックドメインQ：著作権フリー画像素材集">
            <a:extLst>
              <a:ext uri="{FF2B5EF4-FFF2-40B4-BE49-F238E27FC236}">
                <a16:creationId xmlns:a16="http://schemas.microsoft.com/office/drawing/2014/main" id="{B6DC8954-6A25-0790-6A5A-C1D32B9DD2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43108" y="636450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" name="AutoShape 10" descr="フリーイラスト] スポーツカーのトヨタ86 | パブリックドメインQ：著作権フリー画像素材集">
            <a:extLst>
              <a:ext uri="{FF2B5EF4-FFF2-40B4-BE49-F238E27FC236}">
                <a16:creationId xmlns:a16="http://schemas.microsoft.com/office/drawing/2014/main" id="{C41C346E-C1A6-A674-F0C1-1FF3DFCBCE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5" name="AutoShape 12" descr="さまざまなプレミアム小型トヨタ車のベクター画像イラスト素材透過、PNGフリー画像ダウンロード - Pngtree">
            <a:extLst>
              <a:ext uri="{FF2B5EF4-FFF2-40B4-BE49-F238E27FC236}">
                <a16:creationId xmlns:a16="http://schemas.microsoft.com/office/drawing/2014/main" id="{D5F716FC-65F1-6099-8DCC-F73075C2503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3" name="Рисунок 2" descr="Изображение выглядит как транспортное средство, шина, мотоцикл, колес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7588627-F0BC-FCA9-CA0F-E6C162AF66F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5762" y="1641377"/>
            <a:ext cx="2787763" cy="2787763"/>
          </a:xfrm>
          <a:prstGeom prst="rect">
            <a:avLst/>
          </a:prstGeom>
        </p:spPr>
      </p:pic>
      <p:pic>
        <p:nvPicPr>
          <p:cNvPr id="3074" name="Picture 2" descr="Bagus yamaha png logo #3869 - Free Transparent PNG Logos">
            <a:extLst>
              <a:ext uri="{FF2B5EF4-FFF2-40B4-BE49-F238E27FC236}">
                <a16:creationId xmlns:a16="http://schemas.microsoft.com/office/drawing/2014/main" id="{0A6298BA-69A3-5AF1-3CB6-2F7B73C95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9753" y="3256328"/>
            <a:ext cx="1625373" cy="2274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44576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181"/>
    </mc:Choice>
    <mc:Fallback xmlns="">
      <p:transition spd="slow" advTm="2618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B5448EB-229E-AE6D-A5A7-45E88F2B3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510B8CF-31AE-AACD-B4D0-2B36818FB825}"/>
              </a:ext>
            </a:extLst>
          </p:cNvPr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 descr="Logo">
            <a:extLst>
              <a:ext uri="{FF2B5EF4-FFF2-40B4-BE49-F238E27FC236}">
                <a16:creationId xmlns:a16="http://schemas.microsoft.com/office/drawing/2014/main" id="{7488D80A-F434-39EA-5EFE-90FAB9145E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510F44A-2A11-C1B6-921D-CEE00B14A0D8}"/>
              </a:ext>
            </a:extLst>
          </p:cNvPr>
          <p:cNvSpPr/>
          <p:nvPr/>
        </p:nvSpPr>
        <p:spPr>
          <a:xfrm>
            <a:off x="308471" y="340365"/>
            <a:ext cx="6532165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KATAKANA</a:t>
            </a:r>
            <a:r>
              <a:rPr lang="uz-Latn-UZ" sz="4000" b="1" dirty="0"/>
              <a:t> YOZILISH TARTIBI</a:t>
            </a:r>
            <a:endParaRPr lang="en-US" sz="4000" b="1" dirty="0"/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3843079" y="1188627"/>
            <a:ext cx="2352211" cy="66908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cs typeface="Times New Roman" panose="02020603050405020304" pitchFamily="18" charset="0"/>
              </a:rPr>
              <a:t>YU</a:t>
            </a:r>
            <a:endParaRPr lang="uz-Latn-UZ" sz="3600" b="1" dirty="0">
              <a:cs typeface="Times New Roman" panose="02020603050405020304" pitchFamily="18" charset="0"/>
            </a:endParaRPr>
          </a:p>
        </p:txBody>
      </p:sp>
      <p:pic>
        <p:nvPicPr>
          <p:cNvPr id="4" name="Рисунок 3" descr="Изображение выглядит как снимок экрана, линия, Прямоугольник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1A0821B-2CFB-6B5C-C76B-B12EB6D944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1" t="2720" r="1472" b="1621"/>
          <a:stretch>
            <a:fillRect/>
          </a:stretch>
        </p:blipFill>
        <p:spPr>
          <a:xfrm>
            <a:off x="3116829" y="2054824"/>
            <a:ext cx="3873903" cy="3834699"/>
          </a:xfrm>
          <a:prstGeom prst="rect">
            <a:avLst/>
          </a:prstGeom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2713631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D0F8D-B0C9-24D7-7D29-2BE0C31A1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C9801F8-A8FA-8468-EDF5-2641AE6525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42627" y="-68827"/>
            <a:ext cx="12743507" cy="7168221"/>
          </a:xfrm>
          <a:prstGeom prst="rect">
            <a:avLst/>
          </a:prstGeom>
        </p:spPr>
      </p:pic>
      <p:sp>
        <p:nvSpPr>
          <p:cNvPr id="6" name="Rectangle: Rounded Corners 6">
            <a:extLst>
              <a:ext uri="{FF2B5EF4-FFF2-40B4-BE49-F238E27FC236}">
                <a16:creationId xmlns:a16="http://schemas.microsoft.com/office/drawing/2014/main" id="{E361B3CA-7CD6-2CC0-F534-CB815B422195}"/>
              </a:ext>
            </a:extLst>
          </p:cNvPr>
          <p:cNvSpPr/>
          <p:nvPr/>
        </p:nvSpPr>
        <p:spPr>
          <a:xfrm>
            <a:off x="905218" y="4177940"/>
            <a:ext cx="2919470" cy="651154"/>
          </a:xfrm>
          <a:prstGeom prst="roundRect">
            <a:avLst/>
          </a:prstGeom>
          <a:solidFill>
            <a:sysClr val="window" lastClr="FFFFFF"/>
          </a:solidFill>
          <a:ln w="57150" cap="flat" cmpd="sng" algn="ctr">
            <a:solidFill>
              <a:srgbClr val="2F559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YU</a:t>
            </a:r>
            <a:r>
              <a:rPr lang="uz-Latn-UZ" sz="4000" b="1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K</a:t>
            </a:r>
            <a:r>
              <a:rPr lang="en-US" sz="4000" b="1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234D48D-C38A-4AFE-F143-1AA119645E8B}"/>
              </a:ext>
            </a:extLst>
          </p:cNvPr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 descr="Logo">
            <a:extLst>
              <a:ext uri="{FF2B5EF4-FFF2-40B4-BE49-F238E27FC236}">
                <a16:creationId xmlns:a16="http://schemas.microsoft.com/office/drawing/2014/main" id="{4CCC0B64-A50B-60C5-1B29-B5D84859A1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: Rounded Corners 13">
            <a:extLst>
              <a:ext uri="{FF2B5EF4-FFF2-40B4-BE49-F238E27FC236}">
                <a16:creationId xmlns:a16="http://schemas.microsoft.com/office/drawing/2014/main" id="{C2F39023-5502-F21C-D7C3-B064D68DF9ED}"/>
              </a:ext>
            </a:extLst>
          </p:cNvPr>
          <p:cNvSpPr/>
          <p:nvPr/>
        </p:nvSpPr>
        <p:spPr>
          <a:xfrm>
            <a:off x="299780" y="372142"/>
            <a:ext cx="6637454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SO’ZLAR</a:t>
            </a:r>
          </a:p>
        </p:txBody>
      </p:sp>
      <p:pic>
        <p:nvPicPr>
          <p:cNvPr id="17" name="Объект 16">
            <a:extLst>
              <a:ext uri="{FF2B5EF4-FFF2-40B4-BE49-F238E27FC236}">
                <a16:creationId xmlns:a16="http://schemas.microsoft.com/office/drawing/2014/main" id="{3DC7144D-45D5-9EC1-EDFD-0D1700C05D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946" y="1651766"/>
            <a:ext cx="1699700" cy="1699700"/>
          </a:xfrm>
          <a:prstGeom prst="rect">
            <a:avLst/>
          </a:prstGeom>
        </p:spPr>
      </p:pic>
      <p:pic>
        <p:nvPicPr>
          <p:cNvPr id="20" name="Рисунок 19" descr="Изображение выглядит как символ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87EA555-FDA1-A091-CBD6-0C0CD1332A8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6369" y="1651766"/>
            <a:ext cx="1699700" cy="1699700"/>
          </a:xfrm>
          <a:prstGeom prst="rect">
            <a:avLst/>
          </a:prstGeom>
        </p:spPr>
      </p:pic>
      <p:pic>
        <p:nvPicPr>
          <p:cNvPr id="2050" name="Picture 2" descr="かわいいフリー素材集 いらすとや: 雪景色のイラスト「雪だるまとツリー」">
            <a:extLst>
              <a:ext uri="{FF2B5EF4-FFF2-40B4-BE49-F238E27FC236}">
                <a16:creationId xmlns:a16="http://schemas.microsoft.com/office/drawing/2014/main" id="{9128C298-10BD-56C3-9B6A-5A5297FD0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5919" y="1464265"/>
            <a:ext cx="4140370" cy="3027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01321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181"/>
    </mc:Choice>
    <mc:Fallback xmlns="">
      <p:transition spd="slow" advTm="2618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CC671-E216-0085-D3A7-23DB0D1ED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869A3C-13DF-B3C3-7529-B6F59787D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96D96ED-EBFE-6E57-0C40-1F91C224F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150"/>
            <a:ext cx="12192000" cy="68579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B179A8-6DC9-C51D-90FC-F62EEAFE9DEC}"/>
              </a:ext>
            </a:extLst>
          </p:cNvPr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Logo">
            <a:extLst>
              <a:ext uri="{FF2B5EF4-FFF2-40B4-BE49-F238E27FC236}">
                <a16:creationId xmlns:a16="http://schemas.microsoft.com/office/drawing/2014/main" id="{79FD9CB0-8216-6C79-F5B6-9E1A2E020B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2F39023-5502-F21C-D7C3-B064D68DF9ED}"/>
              </a:ext>
            </a:extLst>
          </p:cNvPr>
          <p:cNvSpPr/>
          <p:nvPr/>
        </p:nvSpPr>
        <p:spPr>
          <a:xfrm>
            <a:off x="299804" y="370347"/>
            <a:ext cx="6637454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KATAKANA</a:t>
            </a:r>
            <a:r>
              <a:rPr lang="uz-Latn-UZ" sz="4000" b="1" dirty="0"/>
              <a:t> YOZILISH TARTIBI</a:t>
            </a:r>
            <a:endParaRPr lang="en-US" sz="4000" b="1" dirty="0"/>
          </a:p>
        </p:txBody>
      </p:sp>
      <p:sp>
        <p:nvSpPr>
          <p:cNvPr id="17" name="Скругленный прямоугольник 16"/>
          <p:cNvSpPr/>
          <p:nvPr/>
        </p:nvSpPr>
        <p:spPr>
          <a:xfrm>
            <a:off x="3676112" y="1264689"/>
            <a:ext cx="2352211" cy="66908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cs typeface="Times New Roman" panose="02020603050405020304" pitchFamily="18" charset="0"/>
              </a:rPr>
              <a:t>YO</a:t>
            </a:r>
            <a:endParaRPr lang="uz-Latn-UZ" sz="3600" b="1" dirty="0">
              <a:cs typeface="Times New Roman" panose="02020603050405020304" pitchFamily="18" charset="0"/>
            </a:endParaRPr>
          </a:p>
        </p:txBody>
      </p:sp>
      <p:pic>
        <p:nvPicPr>
          <p:cNvPr id="7" name="Объект 6" descr="Изображение выглядит как снимок экрана, линия, Прямоугольник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77CD975-69FF-67C4-7143-2C005A328C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4" t="1256" r="1824" b="2349"/>
          <a:stretch>
            <a:fillRect/>
          </a:stretch>
        </p:blipFill>
        <p:spPr>
          <a:xfrm>
            <a:off x="2890683" y="2176868"/>
            <a:ext cx="3923071" cy="3948629"/>
          </a:xfrm>
          <a:prstGeom prst="rect">
            <a:avLst/>
          </a:prstGeom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741106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D0F8D-B0C9-24D7-7D29-2BE0C31A1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387193-325E-719D-234C-1D92C74C2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C9801F8-A8FA-8468-EDF5-2641AE6525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141"/>
            <a:ext cx="12192000" cy="6583884"/>
          </a:xfrm>
          <a:prstGeom prst="rect">
            <a:avLst/>
          </a:prstGeom>
        </p:spPr>
      </p:pic>
      <p:sp>
        <p:nvSpPr>
          <p:cNvPr id="6" name="Rectangle: Rounded Corners 6">
            <a:extLst>
              <a:ext uri="{FF2B5EF4-FFF2-40B4-BE49-F238E27FC236}">
                <a16:creationId xmlns:a16="http://schemas.microsoft.com/office/drawing/2014/main" id="{E361B3CA-7CD6-2CC0-F534-CB815B422195}"/>
              </a:ext>
            </a:extLst>
          </p:cNvPr>
          <p:cNvSpPr/>
          <p:nvPr/>
        </p:nvSpPr>
        <p:spPr>
          <a:xfrm>
            <a:off x="870299" y="4089654"/>
            <a:ext cx="2919470" cy="651154"/>
          </a:xfrm>
          <a:prstGeom prst="roundRect">
            <a:avLst/>
          </a:prstGeom>
          <a:solidFill>
            <a:sysClr val="window" lastClr="FFFFFF"/>
          </a:solidFill>
          <a:ln w="57150" cap="flat" cmpd="sng" algn="ctr">
            <a:solidFill>
              <a:srgbClr val="2F559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YO TA</a:t>
            </a: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234D48D-C38A-4AFE-F143-1AA119645E8B}"/>
              </a:ext>
            </a:extLst>
          </p:cNvPr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 descr="Logo">
            <a:extLst>
              <a:ext uri="{FF2B5EF4-FFF2-40B4-BE49-F238E27FC236}">
                <a16:creationId xmlns:a16="http://schemas.microsoft.com/office/drawing/2014/main" id="{4CCC0B64-A50B-60C5-1B29-B5D84859A1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: Rounded Corners 13">
            <a:extLst>
              <a:ext uri="{FF2B5EF4-FFF2-40B4-BE49-F238E27FC236}">
                <a16:creationId xmlns:a16="http://schemas.microsoft.com/office/drawing/2014/main" id="{C2F39023-5502-F21C-D7C3-B064D68DF9ED}"/>
              </a:ext>
            </a:extLst>
          </p:cNvPr>
          <p:cNvSpPr/>
          <p:nvPr/>
        </p:nvSpPr>
        <p:spPr>
          <a:xfrm>
            <a:off x="299804" y="370347"/>
            <a:ext cx="6637454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KATAKANA</a:t>
            </a:r>
            <a:r>
              <a:rPr lang="uz-Latn-UZ" sz="4000" b="1" dirty="0"/>
              <a:t> YOZILISH TARTIBI</a:t>
            </a:r>
            <a:endParaRPr lang="en-US" sz="4000" b="1" dirty="0"/>
          </a:p>
        </p:txBody>
      </p:sp>
      <p:pic>
        <p:nvPicPr>
          <p:cNvPr id="19" name="Рисунок 18" descr="Изображение выглядит как снимок экрана, линия, Прямоугольник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A4CE34A-F63B-9521-91CD-8D07CAE091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7451" y="1690689"/>
            <a:ext cx="1641394" cy="1641394"/>
          </a:xfrm>
          <a:prstGeom prst="rect">
            <a:avLst/>
          </a:prstGeom>
        </p:spPr>
      </p:pic>
      <p:pic>
        <p:nvPicPr>
          <p:cNvPr id="21" name="Рисунок 20" descr="Изображение выглядит как линия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48C0848-C41C-0B1E-B278-E5D090E580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5989" y="1674960"/>
            <a:ext cx="1666156" cy="1666156"/>
          </a:xfrm>
          <a:prstGeom prst="rect">
            <a:avLst/>
          </a:prstGeom>
        </p:spPr>
      </p:pic>
      <p:pic>
        <p:nvPicPr>
          <p:cNvPr id="2052" name="Picture 4" descr="トヨタ・TOYOTAのIllustrator（AI・PNG形式）ロゴ素材 –  企業・ブランド等のロゴをIllustrator（AI・EPS形式）でトレースダウンロードフリー 素材の素材ナビ">
            <a:extLst>
              <a:ext uri="{FF2B5EF4-FFF2-40B4-BE49-F238E27FC236}">
                <a16:creationId xmlns:a16="http://schemas.microsoft.com/office/drawing/2014/main" id="{B838D8F9-EF66-92D7-9679-0C01AE25B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3492" y="3276600"/>
            <a:ext cx="2744021" cy="182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 descr="Изображение выглядит как снимок экрана, линия, Прямоугольник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4C3040A-000A-BC9D-2D82-CEFED5B255D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484" y="1687340"/>
            <a:ext cx="1641395" cy="1641395"/>
          </a:xfrm>
          <a:prstGeom prst="rect">
            <a:avLst/>
          </a:prstGeom>
        </p:spPr>
      </p:pic>
      <p:sp>
        <p:nvSpPr>
          <p:cNvPr id="3" name="AutoShape 2" descr="Toyotaイラストフリー素材透過、PNG画像、ベクトル、PSDと無料ダウンロード| Pngtree">
            <a:extLst>
              <a:ext uri="{FF2B5EF4-FFF2-40B4-BE49-F238E27FC236}">
                <a16:creationId xmlns:a16="http://schemas.microsoft.com/office/drawing/2014/main" id="{1E430F44-8BBB-C0D0-0F92-1EDF4F911C7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8" name="Рисунок 7" descr="Изображение выглядит как транспортное средство, Наземный транспорт, колесо, маши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0879884-FAC6-F2AA-398C-BC8DF8CBB1C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0218" y="840366"/>
            <a:ext cx="3429000" cy="3429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37142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181"/>
    </mc:Choice>
    <mc:Fallback xmlns="">
      <p:transition spd="slow" advTm="2618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DD867-B3D1-B91C-C31A-5F65B5446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1955BA-FCEB-3269-DAED-8D82F299E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6497CF8-CB0B-E99A-C222-9155AB242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6462"/>
            <a:ext cx="12192000" cy="68579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30DCA59-5F0D-BE82-33E4-3F6A0E1E398A}"/>
              </a:ext>
            </a:extLst>
          </p:cNvPr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Logo">
            <a:extLst>
              <a:ext uri="{FF2B5EF4-FFF2-40B4-BE49-F238E27FC236}">
                <a16:creationId xmlns:a16="http://schemas.microsoft.com/office/drawing/2014/main" id="{B5A5ED6C-0F5B-73DB-A489-D007D1F5FB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F0C0119-467B-AF5B-7B16-940F5CB3E540}"/>
              </a:ext>
            </a:extLst>
          </p:cNvPr>
          <p:cNvSpPr/>
          <p:nvPr/>
        </p:nvSpPr>
        <p:spPr>
          <a:xfrm>
            <a:off x="308472" y="340365"/>
            <a:ext cx="2000013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MASHQ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8E0FA0A-E056-1CC5-5443-3DCAE40B5226}"/>
              </a:ext>
            </a:extLst>
          </p:cNvPr>
          <p:cNvSpPr/>
          <p:nvPr/>
        </p:nvSpPr>
        <p:spPr>
          <a:xfrm>
            <a:off x="606532" y="1355454"/>
            <a:ext cx="1222268" cy="752355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YA</a:t>
            </a:r>
          </a:p>
        </p:txBody>
      </p:sp>
      <p:sp>
        <p:nvSpPr>
          <p:cNvPr id="24" name="Oval 14">
            <a:extLst>
              <a:ext uri="{FF2B5EF4-FFF2-40B4-BE49-F238E27FC236}">
                <a16:creationId xmlns:a16="http://schemas.microsoft.com/office/drawing/2014/main" id="{88E0FA0A-E056-1CC5-5443-3DCAE40B5226}"/>
              </a:ext>
            </a:extLst>
          </p:cNvPr>
          <p:cNvSpPr/>
          <p:nvPr/>
        </p:nvSpPr>
        <p:spPr>
          <a:xfrm>
            <a:off x="606532" y="2316108"/>
            <a:ext cx="1222268" cy="752355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YU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25" name="Oval 14">
            <a:extLst>
              <a:ext uri="{FF2B5EF4-FFF2-40B4-BE49-F238E27FC236}">
                <a16:creationId xmlns:a16="http://schemas.microsoft.com/office/drawing/2014/main" id="{88E0FA0A-E056-1CC5-5443-3DCAE40B5226}"/>
              </a:ext>
            </a:extLst>
          </p:cNvPr>
          <p:cNvSpPr/>
          <p:nvPr/>
        </p:nvSpPr>
        <p:spPr>
          <a:xfrm>
            <a:off x="606532" y="3274578"/>
            <a:ext cx="1222268" cy="752355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YO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28" name="Oval 6">
            <a:extLst>
              <a:ext uri="{FF2B5EF4-FFF2-40B4-BE49-F238E27FC236}">
                <a16:creationId xmlns:a16="http://schemas.microsoft.com/office/drawing/2014/main" id="{E56533C1-F7AC-4297-3D00-68E355638497}"/>
              </a:ext>
            </a:extLst>
          </p:cNvPr>
          <p:cNvSpPr/>
          <p:nvPr/>
        </p:nvSpPr>
        <p:spPr>
          <a:xfrm>
            <a:off x="6443520" y="1354100"/>
            <a:ext cx="1386029" cy="752355"/>
          </a:xfrm>
          <a:prstGeom prst="ellipse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/>
              <a:t>ユ</a:t>
            </a:r>
            <a:endParaRPr lang="en-US" sz="4000" b="1" dirty="0"/>
          </a:p>
        </p:txBody>
      </p:sp>
      <p:sp>
        <p:nvSpPr>
          <p:cNvPr id="29" name="Oval 6">
            <a:extLst>
              <a:ext uri="{FF2B5EF4-FFF2-40B4-BE49-F238E27FC236}">
                <a16:creationId xmlns:a16="http://schemas.microsoft.com/office/drawing/2014/main" id="{E56533C1-F7AC-4297-3D00-68E355638497}"/>
              </a:ext>
            </a:extLst>
          </p:cNvPr>
          <p:cNvSpPr/>
          <p:nvPr/>
        </p:nvSpPr>
        <p:spPr>
          <a:xfrm>
            <a:off x="6443521" y="2338319"/>
            <a:ext cx="1386028" cy="752355"/>
          </a:xfrm>
          <a:prstGeom prst="ellipse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/>
              <a:t>ヨ</a:t>
            </a:r>
            <a:endParaRPr lang="en-US" sz="4000" b="1" dirty="0"/>
          </a:p>
        </p:txBody>
      </p:sp>
      <p:sp>
        <p:nvSpPr>
          <p:cNvPr id="30" name="Oval 6">
            <a:extLst>
              <a:ext uri="{FF2B5EF4-FFF2-40B4-BE49-F238E27FC236}">
                <a16:creationId xmlns:a16="http://schemas.microsoft.com/office/drawing/2014/main" id="{E56533C1-F7AC-4297-3D00-68E355638497}"/>
              </a:ext>
            </a:extLst>
          </p:cNvPr>
          <p:cNvSpPr/>
          <p:nvPr/>
        </p:nvSpPr>
        <p:spPr>
          <a:xfrm>
            <a:off x="6443521" y="3322538"/>
            <a:ext cx="1386028" cy="752355"/>
          </a:xfrm>
          <a:prstGeom prst="ellipse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0070C0"/>
                </a:solidFill>
                <a:ea typeface="UD Digi Kyokasho N" panose="02020400000000000000" pitchFamily="17" charset="-128"/>
              </a:rPr>
              <a:t>ヤ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216877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73 0.01574 L 0.37201 0.2891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737" y="136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73 0.01574 L 0.37044 -0.1423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59" y="-79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56 0.00139 L 0.37161 -0.13519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59" y="-68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4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B0182-398E-1FAE-0C1B-6F551897A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D12A667-927C-B2F6-F5FD-8D23FAE4D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14300"/>
            <a:ext cx="12311195" cy="697230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F7828F0-E81E-4DD0-3CDD-1A9C25F50FC0}"/>
              </a:ext>
            </a:extLst>
          </p:cNvPr>
          <p:cNvCxnSpPr/>
          <p:nvPr/>
        </p:nvCxnSpPr>
        <p:spPr>
          <a:xfrm>
            <a:off x="10301154" y="340365"/>
            <a:ext cx="0" cy="5918016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Logo">
            <a:extLst>
              <a:ext uri="{FF2B5EF4-FFF2-40B4-BE49-F238E27FC236}">
                <a16:creationId xmlns:a16="http://schemas.microsoft.com/office/drawing/2014/main" id="{BC21BE55-3903-6037-B4E6-AB4F6B481E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71B112E-4111-3D7F-B136-17098ED655A8}"/>
              </a:ext>
            </a:extLst>
          </p:cNvPr>
          <p:cNvSpPr/>
          <p:nvPr/>
        </p:nvSpPr>
        <p:spPr>
          <a:xfrm>
            <a:off x="308472" y="340365"/>
            <a:ext cx="2307406" cy="651154"/>
          </a:xfrm>
          <a:prstGeom prst="roundRect">
            <a:avLst/>
          </a:prstGeom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SO‘ZLAR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98E1F9-91A7-04FC-BDB8-25D2351EA00E}"/>
              </a:ext>
            </a:extLst>
          </p:cNvPr>
          <p:cNvSpPr txBox="1"/>
          <p:nvPr/>
        </p:nvSpPr>
        <p:spPr>
          <a:xfrm>
            <a:off x="110090" y="1406962"/>
            <a:ext cx="329999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b="1" dirty="0"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　</a:t>
            </a:r>
            <a:r>
              <a:rPr lang="ja-JP" altLang="en-US" sz="4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ハナ</a:t>
            </a:r>
            <a:r>
              <a:rPr lang="ja-JP" altLang="en-US" sz="4400" b="1" dirty="0">
                <a:solidFill>
                  <a:srgbClr val="FF0000"/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ヨ</a:t>
            </a:r>
            <a:r>
              <a:rPr lang="ja-JP" altLang="en-US" sz="4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メ</a:t>
            </a:r>
            <a:endParaRPr lang="en-US" sz="4400" b="1" dirty="0">
              <a:solidFill>
                <a:schemeClr val="tx1">
                  <a:lumMod val="95000"/>
                  <a:lumOff val="5000"/>
                </a:schemeClr>
              </a:solidFill>
              <a:latin typeface="UD デジタル 教科書体 N" panose="02020400000000000000" pitchFamily="17" charset="-128"/>
              <a:ea typeface="UD デジタル 教科書体 N" panose="02020400000000000000" pitchFamily="17" charset="-12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78FD1C-47A9-40B4-4456-75C95DB41970}"/>
              </a:ext>
            </a:extLst>
          </p:cNvPr>
          <p:cNvSpPr txBox="1"/>
          <p:nvPr/>
        </p:nvSpPr>
        <p:spPr>
          <a:xfrm>
            <a:off x="4495776" y="2573486"/>
            <a:ext cx="32004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b="1" dirty="0"/>
              <a:t>タイ</a:t>
            </a:r>
            <a:r>
              <a:rPr lang="ja-JP" altLang="en-US" sz="4400" b="1" dirty="0">
                <a:solidFill>
                  <a:srgbClr val="FF0000"/>
                </a:solidFill>
              </a:rPr>
              <a:t>ヤ</a:t>
            </a:r>
            <a:r>
              <a:rPr lang="ja-JP" altLang="en-US" sz="4400" dirty="0"/>
              <a:t> </a:t>
            </a:r>
            <a:endParaRPr lang="en-US" sz="4400" b="1" dirty="0">
              <a:latin typeface="UD デジタル 教科書体 N" panose="02020400000000000000" pitchFamily="17" charset="-128"/>
              <a:ea typeface="UD デジタル 教科書体 N" panose="02020400000000000000" pitchFamily="17" charset="-12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80A6AB-73BA-7A2B-B942-BE44BF166813}"/>
              </a:ext>
            </a:extLst>
          </p:cNvPr>
          <p:cNvSpPr txBox="1"/>
          <p:nvPr/>
        </p:nvSpPr>
        <p:spPr>
          <a:xfrm>
            <a:off x="7794019" y="1549186"/>
            <a:ext cx="264613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b="1" dirty="0">
                <a:solidFill>
                  <a:srgbClr val="FF0000"/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ユ</a:t>
            </a:r>
            <a:r>
              <a:rPr lang="ja-JP" altLang="en-US" sz="4400" b="1" dirty="0"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メ</a:t>
            </a:r>
            <a:endParaRPr lang="en-US" sz="4400" b="1" dirty="0">
              <a:latin typeface="UD デジタル 教科書体 N" panose="02020400000000000000" pitchFamily="17" charset="-128"/>
              <a:ea typeface="UD デジタル 教科書体 N" panose="02020400000000000000" pitchFamily="17" charset="-12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E39FB6-37DB-883D-8AF2-D9F022B5B551}"/>
              </a:ext>
            </a:extLst>
          </p:cNvPr>
          <p:cNvSpPr txBox="1"/>
          <p:nvPr/>
        </p:nvSpPr>
        <p:spPr>
          <a:xfrm>
            <a:off x="6403231" y="3435152"/>
            <a:ext cx="20637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4400" b="1" dirty="0">
              <a:latin typeface="UD デジタル 教科書体 N" panose="02020400000000000000" pitchFamily="17" charset="-128"/>
              <a:ea typeface="UD デジタル 教科書体 N" panose="02020400000000000000" pitchFamily="17" charset="-128"/>
            </a:endParaRPr>
          </a:p>
        </p:txBody>
      </p:sp>
      <p:sp>
        <p:nvSpPr>
          <p:cNvPr id="18" name="AutoShape 4" descr="かわいいヤギ (動物/自然・文化・その他の介護イラスト素材) | 介護アンテナ">
            <a:extLst>
              <a:ext uri="{FF2B5EF4-FFF2-40B4-BE49-F238E27FC236}">
                <a16:creationId xmlns:a16="http://schemas.microsoft.com/office/drawing/2014/main" id="{C27BF9A9-C2AD-BBD3-CC13-86499ECFFA7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44353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9" name="AutoShape 6" descr="かわいいヤギ (動物/自然・文化・その他の介護イラスト素材) | 介護アンテナ">
            <a:extLst>
              <a:ext uri="{FF2B5EF4-FFF2-40B4-BE49-F238E27FC236}">
                <a16:creationId xmlns:a16="http://schemas.microsoft.com/office/drawing/2014/main" id="{DD17C799-67AB-A4D4-2B33-E1C093F36C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0" name="AutoShape 8" descr="かわいいヤギ (動物/自然・文化・その他の介護イラスト素材) | 介護アンテナ">
            <a:extLst>
              <a:ext uri="{FF2B5EF4-FFF2-40B4-BE49-F238E27FC236}">
                <a16:creationId xmlns:a16="http://schemas.microsoft.com/office/drawing/2014/main" id="{D327065A-5430-42E5-3DDE-7087338C0F5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3078" name="Picture 6" descr="自動車のタイヤのイラスト | エコのモト">
            <a:extLst>
              <a:ext uri="{FF2B5EF4-FFF2-40B4-BE49-F238E27FC236}">
                <a16:creationId xmlns:a16="http://schemas.microsoft.com/office/drawing/2014/main" id="{9F4CE0BD-5324-1EFA-8C14-58BA027740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9505" y="3342927"/>
            <a:ext cx="2471477" cy="2488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明晰夢のイラスト | かわいいフリー素材集 いらすとや">
            <a:extLst>
              <a:ext uri="{FF2B5EF4-FFF2-40B4-BE49-F238E27FC236}">
                <a16:creationId xmlns:a16="http://schemas.microsoft.com/office/drawing/2014/main" id="{42F84EBD-3527-A5CF-A556-B9B59A2FF4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0061" y="2205356"/>
            <a:ext cx="2948286" cy="3103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花嫁の女の子のイラスト（将来の夢） | かわいいフリー素材集 いらすとや">
            <a:extLst>
              <a:ext uri="{FF2B5EF4-FFF2-40B4-BE49-F238E27FC236}">
                <a16:creationId xmlns:a16="http://schemas.microsoft.com/office/drawing/2014/main" id="{77877310-9122-4C72-05EA-85D3C5EF9C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156" y="2205356"/>
            <a:ext cx="2222656" cy="3688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5899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2A4F3-403C-8671-2C07-21F5B52D3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93B440-0A84-3D19-7078-A90A49BD09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B336BA7-08E7-F740-7793-0527604F87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D7A4EAB-B0E0-AAAA-FB33-61CC830B5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93"/>
            <a:ext cx="12192000" cy="684580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B9B2964-7C35-907D-8742-EF4AFB679B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5579" y="409767"/>
            <a:ext cx="1576803" cy="1551755"/>
          </a:xfrm>
          <a:prstGeom prst="rect">
            <a:avLst/>
          </a:prstGeom>
        </p:spPr>
      </p:pic>
      <p:sp>
        <p:nvSpPr>
          <p:cNvPr id="6" name="Rectangle: Rounded Corners 7">
            <a:extLst>
              <a:ext uri="{FF2B5EF4-FFF2-40B4-BE49-F238E27FC236}">
                <a16:creationId xmlns:a16="http://schemas.microsoft.com/office/drawing/2014/main" id="{BAAD7D5E-63D6-8040-1FAF-DD4AFCB2A224}"/>
              </a:ext>
            </a:extLst>
          </p:cNvPr>
          <p:cNvSpPr/>
          <p:nvPr/>
        </p:nvSpPr>
        <p:spPr>
          <a:xfrm>
            <a:off x="2903442" y="376211"/>
            <a:ext cx="4807911" cy="75657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uz-Latn-UZ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UMUMLASHTIRAMIZ</a:t>
            </a:r>
            <a:endParaRPr lang="en-US" sz="4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11D4D0F-1F30-0353-892F-50EC5BE4D810}"/>
              </a:ext>
            </a:extLst>
          </p:cNvPr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B6E89485-AAFD-E55D-0D25-CB2C15CE331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458"/>
          <a:stretch>
            <a:fillRect/>
          </a:stretch>
        </p:blipFill>
        <p:spPr>
          <a:xfrm>
            <a:off x="9959256" y="3429000"/>
            <a:ext cx="1827652" cy="26528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AD63E182-FDF2-5025-5492-83D34AD941DD}"/>
              </a:ext>
            </a:extLst>
          </p:cNvPr>
          <p:cNvSpPr/>
          <p:nvPr/>
        </p:nvSpPr>
        <p:spPr>
          <a:xfrm>
            <a:off x="5105398" y="2212685"/>
            <a:ext cx="3363179" cy="565326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HARFLAR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525081" y="1602352"/>
            <a:ext cx="4171779" cy="1748748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2800" b="1" dirty="0">
                <a:ea typeface="UD Digi Kyokasho N" panose="02020400000000000000" pitchFamily="17" charset="-128"/>
              </a:rPr>
              <a:t>ALIFBO: KATAKANA </a:t>
            </a:r>
          </a:p>
          <a:p>
            <a:pPr algn="ctr"/>
            <a:r>
              <a:rPr lang="ja-JP" altLang="en-US" sz="32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ヤ　</a:t>
            </a:r>
            <a:r>
              <a:rPr lang="ja-JP" altLang="en-US" sz="3200" b="1" dirty="0">
                <a:solidFill>
                  <a:schemeClr val="accent1">
                    <a:lumMod val="75000"/>
                  </a:schemeClr>
                </a:solidFill>
                <a:ea typeface="UD Digi Kyokasho N" panose="02020400000000000000" pitchFamily="17" charset="-128"/>
              </a:rPr>
              <a:t>ユ</a:t>
            </a:r>
            <a:r>
              <a:rPr lang="ja-JP" altLang="en-US" sz="32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　</a:t>
            </a:r>
            <a:r>
              <a:rPr lang="ja-JP" altLang="en-US" sz="3200" b="1" dirty="0">
                <a:solidFill>
                  <a:srgbClr val="92D050"/>
                </a:solidFill>
                <a:ea typeface="UD Digi Kyokasho N" panose="02020400000000000000" pitchFamily="17" charset="-128"/>
              </a:rPr>
              <a:t>ヨ</a:t>
            </a:r>
            <a:r>
              <a:rPr lang="ja-JP" altLang="en-US" sz="32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　　</a:t>
            </a:r>
            <a:endParaRPr lang="en-US" altLang="ja-JP" sz="3200" b="1" dirty="0">
              <a:solidFill>
                <a:srgbClr val="7030A0"/>
              </a:solidFill>
              <a:ea typeface="UD Digi Kyokasho N" panose="02020400000000000000" pitchFamily="17" charset="-128"/>
            </a:endParaRPr>
          </a:p>
          <a:p>
            <a:pPr algn="ctr"/>
            <a:r>
              <a:rPr lang="en-US" altLang="ja-JP" sz="2800" b="1" dirty="0">
                <a:solidFill>
                  <a:srgbClr val="7030A0"/>
                </a:solidFill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YA</a:t>
            </a:r>
            <a:r>
              <a:rPr lang="ja-JP" altLang="en-US" sz="28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  </a:t>
            </a:r>
            <a:r>
              <a:rPr lang="ja-JP" altLang="en-US" sz="28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  </a:t>
            </a:r>
            <a:r>
              <a:rPr lang="en-US" altLang="ja-JP" sz="2800" b="1" dirty="0">
                <a:solidFill>
                  <a:srgbClr val="7030A0"/>
                </a:solidFill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>
                <a:solidFill>
                  <a:schemeClr val="accent1">
                    <a:lumMod val="75000"/>
                  </a:schemeClr>
                </a:solidFill>
                <a:ea typeface="UD Digi Kyokasho N" panose="02020400000000000000" pitchFamily="17" charset="-128"/>
              </a:rPr>
              <a:t>YU</a:t>
            </a:r>
            <a:r>
              <a:rPr lang="en-US" altLang="ja-JP" sz="2800" b="1" dirty="0">
                <a:solidFill>
                  <a:srgbClr val="7030A0"/>
                </a:solidFill>
                <a:ea typeface="UD Digi Kyokasho N" panose="02020400000000000000" pitchFamily="17" charset="-128"/>
              </a:rPr>
              <a:t>   </a:t>
            </a:r>
            <a:r>
              <a:rPr lang="ja-JP" altLang="en-US" sz="2800" b="1" dirty="0">
                <a:solidFill>
                  <a:srgbClr val="7030A0"/>
                </a:solidFill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>
                <a:solidFill>
                  <a:srgbClr val="92D050"/>
                </a:solidFill>
                <a:ea typeface="UD Digi Kyokasho N" panose="02020400000000000000" pitchFamily="17" charset="-128"/>
              </a:rPr>
              <a:t>YO</a:t>
            </a:r>
            <a:endParaRPr lang="ru-RU" altLang="ja-JP" sz="2800" b="1" dirty="0">
              <a:solidFill>
                <a:srgbClr val="7030A0"/>
              </a:solidFill>
              <a:ea typeface="UD Digi Kyokasho N" panose="02020400000000000000" pitchFamily="17" charset="-128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525081" y="3807502"/>
            <a:ext cx="4171779" cy="2274325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z-Latn-UZ"/>
          </a:p>
        </p:txBody>
      </p:sp>
      <p:pic>
        <p:nvPicPr>
          <p:cNvPr id="15" name="Picture 6" descr="自動車のタイヤのイラスト | エコのモト">
            <a:extLst>
              <a:ext uri="{FF2B5EF4-FFF2-40B4-BE49-F238E27FC236}">
                <a16:creationId xmlns:a16="http://schemas.microsoft.com/office/drawing/2014/main" id="{79523651-17A5-877A-A944-786B37AC8C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1397" y="4860568"/>
            <a:ext cx="1235467" cy="1243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8" descr="明晰夢のイラスト | かわいいフリー素材集 いらすとや">
            <a:extLst>
              <a:ext uri="{FF2B5EF4-FFF2-40B4-BE49-F238E27FC236}">
                <a16:creationId xmlns:a16="http://schemas.microsoft.com/office/drawing/2014/main" id="{D837F68A-885D-92C1-F2A0-2CA9B20EF8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1117" y="4767993"/>
            <a:ext cx="1262580" cy="1329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9">
            <a:extLst>
              <a:ext uri="{FF2B5EF4-FFF2-40B4-BE49-F238E27FC236}">
                <a16:creationId xmlns:a16="http://schemas.microsoft.com/office/drawing/2014/main" id="{8833D609-D272-661B-666E-705C1F2AAB57}"/>
              </a:ext>
            </a:extLst>
          </p:cNvPr>
          <p:cNvSpPr/>
          <p:nvPr/>
        </p:nvSpPr>
        <p:spPr>
          <a:xfrm>
            <a:off x="5242937" y="4429919"/>
            <a:ext cx="3363179" cy="565326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SO’ZLAR</a:t>
            </a:r>
          </a:p>
        </p:txBody>
      </p:sp>
      <p:pic>
        <p:nvPicPr>
          <p:cNvPr id="18" name="Picture 2" descr="Bagus yamaha png logo #3869 - Free Transparent PNG Logos">
            <a:extLst>
              <a:ext uri="{FF2B5EF4-FFF2-40B4-BE49-F238E27FC236}">
                <a16:creationId xmlns:a16="http://schemas.microsoft.com/office/drawing/2014/main" id="{FC344847-EEA3-88FB-0713-B8FBF49FD1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372" y="3820665"/>
            <a:ext cx="978904" cy="1369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" descr="かわいいフリー素材集 いらすとや: 雪景色のイラスト「雪だるまとツリー」">
            <a:extLst>
              <a:ext uri="{FF2B5EF4-FFF2-40B4-BE49-F238E27FC236}">
                <a16:creationId xmlns:a16="http://schemas.microsoft.com/office/drawing/2014/main" id="{75545711-2AFF-1E36-AA2E-F3752EC48A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1019" y="3846101"/>
            <a:ext cx="1424976" cy="1042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4" descr="トヨタ・TOYOTAのIllustrator（AI・PNG形式）ロゴ素材 –  企業・ブランド等のロゴをIllustrator（AI・EPS形式）でトレースダウンロードフリー 素材の素材ナビ">
            <a:extLst>
              <a:ext uri="{FF2B5EF4-FFF2-40B4-BE49-F238E27FC236}">
                <a16:creationId xmlns:a16="http://schemas.microsoft.com/office/drawing/2014/main" id="{5D3728BA-816D-73EE-F32E-63BA81E512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855" y="3648639"/>
            <a:ext cx="2066214" cy="1377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" descr="花嫁の女の子のイラスト（将来の夢） | かわいいフリー素材集 いらすとや">
            <a:extLst>
              <a:ext uri="{FF2B5EF4-FFF2-40B4-BE49-F238E27FC236}">
                <a16:creationId xmlns:a16="http://schemas.microsoft.com/office/drawing/2014/main" id="{6AF5744A-4A71-D49A-6423-B154902F94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9074" y="4814000"/>
            <a:ext cx="749507" cy="1243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2848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626"/>
    </mc:Choice>
    <mc:Fallback xmlns="">
      <p:transition spd="slow" advTm="53626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415061-2F8F-CF2F-4C46-FA711EF306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2AAFCBB-D3D6-73CB-2E2A-453623A790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514D3E0-BA9E-381E-0604-517706605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794"/>
            <a:ext cx="12192000" cy="684580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176F0C5-BB76-F044-1998-7E49F13C51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1544" y="409767"/>
            <a:ext cx="1780838" cy="1752549"/>
          </a:xfrm>
          <a:prstGeom prst="rect">
            <a:avLst/>
          </a:prstGeom>
        </p:spPr>
      </p:pic>
      <p:sp>
        <p:nvSpPr>
          <p:cNvPr id="6" name="Rectangle: Rounded Corners 7">
            <a:extLst>
              <a:ext uri="{FF2B5EF4-FFF2-40B4-BE49-F238E27FC236}">
                <a16:creationId xmlns:a16="http://schemas.microsoft.com/office/drawing/2014/main" id="{20E101F1-8D9D-3615-2D50-FF7E921303F3}"/>
              </a:ext>
            </a:extLst>
          </p:cNvPr>
          <p:cNvSpPr/>
          <p:nvPr/>
        </p:nvSpPr>
        <p:spPr>
          <a:xfrm>
            <a:off x="3210319" y="1449849"/>
            <a:ext cx="5254906" cy="2060113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4400" b="1" dirty="0">
                <a:ea typeface="Calibri" panose="020F0502020204030204" pitchFamily="34" charset="0"/>
                <a:cs typeface="Calibri" panose="020F0502020204030204" pitchFamily="34" charset="0"/>
              </a:rPr>
              <a:t>NIHONGO</a:t>
            </a:r>
            <a:r>
              <a:rPr lang="uz-Latn-UZ" altLang="ja-JP" sz="4400" b="1" dirty="0">
                <a:ea typeface="Calibri" panose="020F0502020204030204" pitchFamily="34" charset="0"/>
                <a:cs typeface="Calibri" panose="020F0502020204030204" pitchFamily="34" charset="0"/>
              </a:rPr>
              <a:t> NO MICHI</a:t>
            </a:r>
            <a:endParaRPr lang="en-US" altLang="ja-JP" sz="4400" b="1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ja-JP" altLang="en-US" sz="4400" b="1" dirty="0">
                <a:ea typeface="UD Digi Kyokasho N" panose="02020400000000000000" pitchFamily="17" charset="-128"/>
                <a:cs typeface="Calibri" panose="020F0502020204030204" pitchFamily="34" charset="0"/>
              </a:rPr>
              <a:t>日本語の道</a:t>
            </a:r>
            <a:endParaRPr lang="en-US" sz="4400" b="1" dirty="0">
              <a:ea typeface="UD Digi Kyokasho N" panose="02020400000000000000" pitchFamily="17" charset="-128"/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F2FF11-010B-BAAF-70C7-9ED0759616A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458"/>
          <a:stretch>
            <a:fillRect/>
          </a:stretch>
        </p:blipFill>
        <p:spPr>
          <a:xfrm>
            <a:off x="6465263" y="4224087"/>
            <a:ext cx="1345558" cy="19858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4564E30-38C3-41E0-E8E5-94ACB03DDC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3899221" y="4270721"/>
            <a:ext cx="1345559" cy="193923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DE18786-6875-8076-929D-304056D657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6344" y="4669133"/>
            <a:ext cx="922856" cy="1210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552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197"/>
    </mc:Choice>
    <mc:Fallback xmlns="">
      <p:transition spd="slow" advTm="36197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.5|1.7|1.5|1.3|1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7|8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7|8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7|8.2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14093</TotalTime>
  <Words>84</Words>
  <Application>Microsoft Office PowerPoint</Application>
  <PresentationFormat>Широкоэкранный</PresentationFormat>
  <Paragraphs>37</Paragraphs>
  <Slides>12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9" baseType="lpstr">
      <vt:lpstr>UD Digi Kyokasho N</vt:lpstr>
      <vt:lpstr>UD Digi Kyokasho N</vt:lpstr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ﾅ</dc:title>
  <dc:creator>shaxboz2027@gmail.com</dc:creator>
  <cp:lastModifiedBy>Mavluda Kamolova</cp:lastModifiedBy>
  <cp:revision>99</cp:revision>
  <dcterms:created xsi:type="dcterms:W3CDTF">2026-01-28T00:18:32Z</dcterms:created>
  <dcterms:modified xsi:type="dcterms:W3CDTF">2026-02-23T05:06:36Z</dcterms:modified>
</cp:coreProperties>
</file>