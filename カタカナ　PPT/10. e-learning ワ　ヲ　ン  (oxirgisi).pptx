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82" r:id="rId2"/>
    <p:sldId id="265" r:id="rId3"/>
    <p:sldId id="257" r:id="rId4"/>
    <p:sldId id="291" r:id="rId5"/>
    <p:sldId id="258" r:id="rId6"/>
    <p:sldId id="270" r:id="rId7"/>
    <p:sldId id="294" r:id="rId8"/>
    <p:sldId id="293" r:id="rId9"/>
    <p:sldId id="275" r:id="rId10"/>
    <p:sldId id="286" r:id="rId11"/>
    <p:sldId id="284" r:id="rId12"/>
    <p:sldId id="290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2BBE0"/>
    <a:srgbClr val="944F38"/>
    <a:srgbClr val="F9988B"/>
    <a:srgbClr val="70AD47"/>
    <a:srgbClr val="F8CCA4"/>
    <a:srgbClr val="FEF17D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387195-282B-4FB3-AD40-DDCE5F38C1FD}" v="33" dt="2026-02-23T05:09:22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7731D-A5FC-4D10-ACB4-474E73000112}" type="datetimeFigureOut">
              <a:rPr lang="uz-Latn-UZ" smtClean="0"/>
              <a:t>23/02/2026</a:t>
            </a:fld>
            <a:endParaRPr lang="uz-Latn-U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z-Latn-U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z-Latn-U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z-Latn-U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50689-DEA1-4C60-983A-F5CB66E30740}" type="slidenum">
              <a:rPr lang="uz-Latn-UZ" smtClean="0"/>
              <a:t>‹#›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97245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F50689-DEA1-4C60-983A-F5CB66E30740}" type="slidenum">
              <a:rPr lang="uz-Latn-UZ" smtClean="0"/>
              <a:t>1</a:t>
            </a:fld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295172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gif"/><Relationship Id="rId7" Type="http://schemas.openxmlformats.org/officeDocument/2006/relationships/image" Target="../media/image13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gif"/><Relationship Id="rId5" Type="http://schemas.openxmlformats.org/officeDocument/2006/relationships/image" Target="../media/image19.gif"/><Relationship Id="rId4" Type="http://schemas.openxmlformats.org/officeDocument/2006/relationships/image" Target="../media/image18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21.gif"/><Relationship Id="rId7" Type="http://schemas.openxmlformats.org/officeDocument/2006/relationships/image" Target="../media/image18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2.gif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297486" y="463548"/>
            <a:ext cx="4407864" cy="783706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800" b="1" dirty="0">
                <a:ea typeface="UD Digi Kyokasho N" panose="02020400000000000000" pitchFamily="17" charset="-128"/>
              </a:rPr>
              <a:t>NIHONGO</a:t>
            </a:r>
            <a:r>
              <a:rPr lang="uz-Latn-UZ" altLang="ja-JP" sz="3800" b="1" dirty="0">
                <a:ea typeface="UD Digi Kyokasho N" panose="02020400000000000000" pitchFamily="17" charset="-128"/>
              </a:rPr>
              <a:t> NO MICHI</a:t>
            </a:r>
            <a:endParaRPr lang="en-US" sz="3800" b="1" dirty="0"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58"/>
          <a:stretch>
            <a:fillRect/>
          </a:stretch>
        </p:blipFill>
        <p:spPr>
          <a:xfrm>
            <a:off x="6406186" y="4270721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3866185" y="4234323"/>
            <a:ext cx="1403172" cy="202226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  <p:sp>
        <p:nvSpPr>
          <p:cNvPr id="11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801250" y="1471142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   ワ</a:t>
            </a:r>
            <a:r>
              <a:rPr lang="ja-JP" altLang="en-US" sz="4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　  ヲ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 </a:t>
            </a:r>
            <a:r>
              <a:rPr lang="ja-JP" altLang="en-US" sz="4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ン</a:t>
            </a:r>
            <a:r>
              <a:rPr lang="ja-JP" altLang="en-US" sz="4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　</a:t>
            </a:r>
            <a:endParaRPr lang="en-US" altLang="ja-JP" sz="4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WA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 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WO</a:t>
            </a:r>
            <a:r>
              <a:rPr lang="ja-JP" altLang="en-US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40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 </a:t>
            </a:r>
            <a:r>
              <a:rPr lang="en-US" altLang="ja-JP" sz="40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N</a:t>
            </a:r>
            <a:endParaRPr lang="ru-RU" altLang="ja-JP" sz="40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48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B30135E-EC69-C259-E5D1-E0DC80FF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64468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405092" y="324825"/>
            <a:ext cx="2815729" cy="523235"/>
          </a:xfrm>
          <a:prstGeom prst="roundRect">
            <a:avLst/>
          </a:prstGeom>
          <a:solidFill>
            <a:schemeClr val="bg2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319208-7953-4D1E-B6AE-8AB27510A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306097" y="991518"/>
            <a:ext cx="9448793" cy="521063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451A82-DD5F-34F9-6A52-0174BBCC52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55" y="447238"/>
            <a:ext cx="1396346" cy="624987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464"/>
    </mc:Choice>
    <mc:Fallback xmlns="">
      <p:transition spd="slow" advTm="314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EC2C-4971-FD33-7A34-069AFC06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23F6E53-4B74-17AC-2546-322B154F1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A449E80-98B4-FD52-DDAE-DF308C15D107}"/>
              </a:ext>
            </a:extLst>
          </p:cNvPr>
          <p:cNvSpPr txBox="1">
            <a:spLocks/>
          </p:cNvSpPr>
          <p:nvPr/>
        </p:nvSpPr>
        <p:spPr>
          <a:xfrm>
            <a:off x="4123866" y="1316212"/>
            <a:ext cx="976684" cy="629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5006D62-6A07-2C0A-3C51-560439C20F0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85ABA37F-EB1F-F22B-7FF7-A9273381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D19FE8-9D13-DA4A-A275-5CF63568582A}"/>
              </a:ext>
            </a:extLst>
          </p:cNvPr>
          <p:cNvSpPr/>
          <p:nvPr/>
        </p:nvSpPr>
        <p:spPr>
          <a:xfrm>
            <a:off x="299804" y="345108"/>
            <a:ext cx="6520722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3924444" y="1131893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WA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0" name="Рисунок 9" descr="Изображение выглядит как лин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DEE1465-54BC-C851-9ECE-4196EE4BB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t="1806" r="1511" b="1018"/>
          <a:stretch>
            <a:fillRect/>
          </a:stretch>
        </p:blipFill>
        <p:spPr>
          <a:xfrm>
            <a:off x="3313471" y="1945519"/>
            <a:ext cx="3755919" cy="3794276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07010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4" name="Объект 1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799447" y="4085933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   NI    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9" name="Рисунок 8" descr="Изображение выглядит как лин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47DBE6-FD9C-7D20-A27F-7D1DB6C43C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47" y="2222234"/>
            <a:ext cx="1511862" cy="151186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снимок экрана, линия, Прямоугольник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D6D8A6-0764-C34A-2D13-300DA3B7FC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066" y="2222234"/>
            <a:ext cx="1511862" cy="1511862"/>
          </a:xfrm>
          <a:prstGeom prst="rect">
            <a:avLst/>
          </a:prstGeom>
        </p:spPr>
      </p:pic>
      <p:pic>
        <p:nvPicPr>
          <p:cNvPr id="1026" name="Picture 2" descr="ワニのイラスト | 商用OKの無料イラスト素材サイト ツカッテ ワニ">
            <a:extLst>
              <a:ext uri="{FF2B5EF4-FFF2-40B4-BE49-F238E27FC236}">
                <a16:creationId xmlns:a16="http://schemas.microsoft.com/office/drawing/2014/main" id="{3B5F28B2-EE11-C63F-F90F-02C74A9E0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522" y="1690688"/>
            <a:ext cx="3341472" cy="334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4576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B5448EB-229E-AE6D-A5A7-45E88F2B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10B8CF-31AE-AACD-B4D0-2B36818FB825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>
            <a:extLst>
              <a:ext uri="{FF2B5EF4-FFF2-40B4-BE49-F238E27FC236}">
                <a16:creationId xmlns:a16="http://schemas.microsoft.com/office/drawing/2014/main" id="{7488D80A-F434-39EA-5EFE-90FAB9145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10F44A-2A11-C1B6-921D-CEE00B14A0D8}"/>
              </a:ext>
            </a:extLst>
          </p:cNvPr>
          <p:cNvSpPr/>
          <p:nvPr/>
        </p:nvSpPr>
        <p:spPr>
          <a:xfrm>
            <a:off x="308471" y="340365"/>
            <a:ext cx="6532165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3843079" y="1188627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WO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Изображение выглядит как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113EE6B-ABCA-3AAB-C9B7-DC01D3567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" t="2323" r="2154" b="1533"/>
          <a:stretch>
            <a:fillRect/>
          </a:stretch>
        </p:blipFill>
        <p:spPr>
          <a:xfrm>
            <a:off x="3392131" y="2054824"/>
            <a:ext cx="3372460" cy="3392247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271363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C671-E216-0085-D3A7-23DB0D1E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869A3C-13DF-B3C3-7529-B6F59787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6D96ED-EBFE-6E57-0C40-1F91C224F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B179A8-6DC9-C51D-90FC-F62EEAFE9DEC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79FD9CB0-8216-6C79-F5B6-9E1A2E020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299804" y="370347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uz-Latn-UZ" sz="4000" b="1" dirty="0"/>
              <a:t> YOZILISH TARTIBI</a:t>
            </a:r>
            <a:endParaRPr lang="en-US" sz="4000" b="1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3777188" y="1201254"/>
            <a:ext cx="2352211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7D124C-6BB8-123A-48E4-9B1472EC78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" t="1841" r="1855" b="708"/>
          <a:stretch>
            <a:fillRect/>
          </a:stretch>
        </p:blipFill>
        <p:spPr>
          <a:xfrm>
            <a:off x="2969341" y="2125428"/>
            <a:ext cx="3967907" cy="4009902"/>
          </a:xfrm>
          <a:prstGeom prst="rect">
            <a:avLst/>
          </a:prstGeom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741106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D247-02D5-609C-BA6D-CE5BBA59E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B927AC-9F9B-2A7E-2697-8C0BD3C0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6D7F23-6CDD-2EE4-3E49-43737074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623678-33C6-578B-D8AC-028E58CA2A69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D09EC131-E912-2FA7-C76E-AAE269362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02DABB3-1707-5709-495B-5ED207939D9E}"/>
              </a:ext>
            </a:extLst>
          </p:cNvPr>
          <p:cNvSpPr/>
          <p:nvPr/>
        </p:nvSpPr>
        <p:spPr>
          <a:xfrm>
            <a:off x="299780" y="327809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O’XSHASH HARFLAR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B3474F14-95B0-1788-0B52-3A9BC3A3E8CE}"/>
              </a:ext>
            </a:extLst>
          </p:cNvPr>
          <p:cNvSpPr/>
          <p:nvPr/>
        </p:nvSpPr>
        <p:spPr>
          <a:xfrm>
            <a:off x="995648" y="1788171"/>
            <a:ext cx="2352210" cy="6809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7" name="Рисунок 6" descr="Изображение выглядит как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71A420-67BA-2FE2-D8CC-A6C0B0E5C3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4" t="1841" r="1855" b="708"/>
          <a:stretch>
            <a:fillRect/>
          </a:stretch>
        </p:blipFill>
        <p:spPr>
          <a:xfrm>
            <a:off x="995647" y="2924127"/>
            <a:ext cx="2352211" cy="2377106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3" name="Скругленный прямоугольник 16">
            <a:extLst>
              <a:ext uri="{FF2B5EF4-FFF2-40B4-BE49-F238E27FC236}">
                <a16:creationId xmlns:a16="http://schemas.microsoft.com/office/drawing/2014/main" id="{357D47DC-FDD7-4050-CF2A-561C9823A451}"/>
              </a:ext>
            </a:extLst>
          </p:cNvPr>
          <p:cNvSpPr/>
          <p:nvPr/>
        </p:nvSpPr>
        <p:spPr>
          <a:xfrm>
            <a:off x="3743789" y="1799980"/>
            <a:ext cx="2106405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SO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  <p:pic>
        <p:nvPicPr>
          <p:cNvPr id="15" name="Рисунок 14" descr="Изображение выглядит как снимок экрана, линия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A40941-B7BB-DE28-1B2F-A3EF340124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" t="-1058" b="-1"/>
          <a:stretch>
            <a:fillRect/>
          </a:stretch>
        </p:blipFill>
        <p:spPr>
          <a:xfrm>
            <a:off x="3743787" y="2869944"/>
            <a:ext cx="2352209" cy="2431289"/>
          </a:xfrm>
          <a:prstGeom prst="rect">
            <a:avLst/>
          </a:prstGeom>
        </p:spPr>
      </p:pic>
      <p:pic>
        <p:nvPicPr>
          <p:cNvPr id="6" name="Рисунок 5" descr="Изображение выглядит как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4EE37A9-0FCF-188D-6A58-6C6930D03F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921" y="2924127"/>
            <a:ext cx="2377106" cy="2377106"/>
          </a:xfrm>
          <a:prstGeom prst="rect">
            <a:avLst/>
          </a:prstGeom>
        </p:spPr>
      </p:pic>
      <p:sp>
        <p:nvSpPr>
          <p:cNvPr id="10" name="Скругленный прямоугольник 16">
            <a:extLst>
              <a:ext uri="{FF2B5EF4-FFF2-40B4-BE49-F238E27FC236}">
                <a16:creationId xmlns:a16="http://schemas.microsoft.com/office/drawing/2014/main" id="{22FC258F-3ADE-9DD9-5E6F-39A70F518C16}"/>
              </a:ext>
            </a:extLst>
          </p:cNvPr>
          <p:cNvSpPr/>
          <p:nvPr/>
        </p:nvSpPr>
        <p:spPr>
          <a:xfrm>
            <a:off x="6491921" y="1788170"/>
            <a:ext cx="2106405" cy="6690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603050405020304" pitchFamily="18" charset="0"/>
              </a:rPr>
              <a:t>NO</a:t>
            </a:r>
            <a:endParaRPr lang="uz-Latn-UZ" sz="3600" b="1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63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D0F8D-B0C9-24D7-7D29-2BE0C31A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387193-325E-719D-234C-1D92C74C2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2125" y="3477419"/>
            <a:ext cx="1047750" cy="1047750"/>
          </a:xfr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9801F8-A8FA-8468-EDF5-2641AE6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E361B3CA-7CD6-2CC0-F534-CB815B422195}"/>
              </a:ext>
            </a:extLst>
          </p:cNvPr>
          <p:cNvSpPr/>
          <p:nvPr/>
        </p:nvSpPr>
        <p:spPr>
          <a:xfrm>
            <a:off x="1419054" y="4199592"/>
            <a:ext cx="3753157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rgbClr val="2F5597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       N        NA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34D48D-C38A-4AFE-F143-1AA119645E8B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rgbClr val="2F559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>
            <a:extLst>
              <a:ext uri="{FF2B5EF4-FFF2-40B4-BE49-F238E27FC236}">
                <a16:creationId xmlns:a16="http://schemas.microsoft.com/office/drawing/2014/main" id="{4CCC0B64-A50B-60C5-1B29-B5D84859A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39023-5502-F21C-D7C3-B064D68DF9ED}"/>
              </a:ext>
            </a:extLst>
          </p:cNvPr>
          <p:cNvSpPr/>
          <p:nvPr/>
        </p:nvSpPr>
        <p:spPr>
          <a:xfrm>
            <a:off x="309594" y="365125"/>
            <a:ext cx="6637454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SO’ZLAR</a:t>
            </a:r>
          </a:p>
        </p:txBody>
      </p:sp>
      <p:pic>
        <p:nvPicPr>
          <p:cNvPr id="9" name="Рисунок 8" descr="Изображение выглядит как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CD4D70-1616-694F-F2DD-EAE4F1A9B0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872" y="2223089"/>
            <a:ext cx="1511862" cy="1511862"/>
          </a:xfrm>
          <a:prstGeom prst="rect">
            <a:avLst/>
          </a:prstGeom>
        </p:spPr>
      </p:pic>
      <p:pic>
        <p:nvPicPr>
          <p:cNvPr id="16" name="Рисунок 15" descr="Изображение выглядит как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A146BD-B536-518C-2283-459C36CD0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510" y="2233362"/>
            <a:ext cx="1511862" cy="151186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2380EF7-3A20-1155-F7EF-305C883F05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6148" y="2223089"/>
            <a:ext cx="1522135" cy="1522135"/>
          </a:xfrm>
          <a:prstGeom prst="rect">
            <a:avLst/>
          </a:prstGeom>
        </p:spPr>
      </p:pic>
      <p:pic>
        <p:nvPicPr>
          <p:cNvPr id="2050" name="Picture 2" descr="40点を超えるアンナ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6CDEAC05-2A29-5C82-DC2C-B23FD8466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925" y="1926076"/>
            <a:ext cx="3031354" cy="2273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25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81"/>
    </mc:Choice>
    <mc:Fallback xmlns="">
      <p:transition spd="slow" advTm="2618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DD867-B3D1-B91C-C31A-5F65B5446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955BA-FCEB-3269-DAED-8D82F299E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497CF8-CB0B-E99A-C222-9155AB242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0DCA59-5F0D-BE82-33E4-3F6A0E1E39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B5A5ED6C-0F5B-73DB-A489-D007D1F5F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0C0119-467B-AF5B-7B16-940F5CB3E540}"/>
              </a:ext>
            </a:extLst>
          </p:cNvPr>
          <p:cNvSpPr/>
          <p:nvPr/>
        </p:nvSpPr>
        <p:spPr>
          <a:xfrm>
            <a:off x="308472" y="340365"/>
            <a:ext cx="2000013" cy="651154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1355454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</a:rPr>
              <a:t>ワ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24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231610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ヲ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5" name="Oval 14">
            <a:extLst>
              <a:ext uri="{FF2B5EF4-FFF2-40B4-BE49-F238E27FC236}">
                <a16:creationId xmlns:a16="http://schemas.microsoft.com/office/drawing/2014/main" id="{88E0FA0A-E056-1CC5-5443-3DCAE40B5226}"/>
              </a:ext>
            </a:extLst>
          </p:cNvPr>
          <p:cNvSpPr/>
          <p:nvPr/>
        </p:nvSpPr>
        <p:spPr>
          <a:xfrm>
            <a:off x="606532" y="3274578"/>
            <a:ext cx="1222268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ン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28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0" y="1354100"/>
            <a:ext cx="1386029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N</a:t>
            </a:r>
            <a:endParaRPr lang="en-US" sz="4000" dirty="0"/>
          </a:p>
        </p:txBody>
      </p:sp>
      <p:sp>
        <p:nvSpPr>
          <p:cNvPr id="29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1" y="2338319"/>
            <a:ext cx="1471446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0070C0"/>
                </a:solidFill>
                <a:ea typeface="UD Digi Kyokasho N" panose="02020400000000000000" pitchFamily="17" charset="-128"/>
              </a:rPr>
              <a:t>WO</a:t>
            </a:r>
            <a:endParaRPr lang="en-US" sz="4000" dirty="0"/>
          </a:p>
        </p:txBody>
      </p:sp>
      <p:sp>
        <p:nvSpPr>
          <p:cNvPr id="30" name="Oval 6">
            <a:extLst>
              <a:ext uri="{FF2B5EF4-FFF2-40B4-BE49-F238E27FC236}">
                <a16:creationId xmlns:a16="http://schemas.microsoft.com/office/drawing/2014/main" id="{E56533C1-F7AC-4297-3D00-68E355638497}"/>
              </a:ext>
            </a:extLst>
          </p:cNvPr>
          <p:cNvSpPr/>
          <p:nvPr/>
        </p:nvSpPr>
        <p:spPr>
          <a:xfrm>
            <a:off x="6443521" y="3322538"/>
            <a:ext cx="1386028" cy="75235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sz="4000" b="1">
                <a:solidFill>
                  <a:srgbClr val="0070C0"/>
                </a:solidFill>
                <a:ea typeface="UD Digi Kyokasho N" panose="02020400000000000000" pitchFamily="17" charset="-128"/>
              </a:rPr>
              <a:t>WA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1687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7201 0.2891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37" y="1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59259E-6 L 0.36458 0.00463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29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1574 L 0.3599 -0.2821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25" y="-14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B0182-398E-1FAE-0C1B-6F551897A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12A667-927C-B2F6-F5FD-8D23FAE4D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0479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F7828F0-E81E-4DD0-3CDD-1A9C25F50FC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BC21BE55-3903-6037-B4E6-AB4F6B481E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71B112E-4111-3D7F-B136-17098ED655A8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98E1F9-91A7-04FC-BDB8-25D2351EA00E}"/>
              </a:ext>
            </a:extLst>
          </p:cNvPr>
          <p:cNvSpPr txBox="1"/>
          <p:nvPr/>
        </p:nvSpPr>
        <p:spPr>
          <a:xfrm>
            <a:off x="290624" y="1362645"/>
            <a:ext cx="32004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　フラ</a:t>
            </a:r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ン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ス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8FD1C-47A9-40B4-4456-75C95DB41970}"/>
              </a:ext>
            </a:extLst>
          </p:cNvPr>
          <p:cNvSpPr txBox="1"/>
          <p:nvPr/>
        </p:nvSpPr>
        <p:spPr>
          <a:xfrm>
            <a:off x="4495776" y="2573486"/>
            <a:ext cx="32004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</a:rPr>
              <a:t>ワ</a:t>
            </a:r>
            <a:r>
              <a:rPr lang="ja-JP" altLang="en-US" sz="4400" b="1" dirty="0"/>
              <a:t>イ</a:t>
            </a:r>
            <a:r>
              <a:rPr lang="ja-JP" altLang="en-US" sz="4400" b="1" dirty="0">
                <a:solidFill>
                  <a:srgbClr val="FF0000"/>
                </a:solidFill>
              </a:rPr>
              <a:t>ン</a:t>
            </a:r>
            <a:r>
              <a:rPr lang="ja-JP" altLang="en-US" sz="4400" b="1" dirty="0"/>
              <a:t> 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0A6AB-73BA-7A2B-B942-BE44BF166813}"/>
              </a:ext>
            </a:extLst>
          </p:cNvPr>
          <p:cNvSpPr txBox="1"/>
          <p:nvPr/>
        </p:nvSpPr>
        <p:spPr>
          <a:xfrm>
            <a:off x="7794019" y="1549186"/>
            <a:ext cx="2646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ワ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タ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8" name="AutoShape 4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C27BF9A9-C2AD-BBD3-CC13-86499ECFFA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44353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AutoShape 6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DD17C799-67AB-A4D4-2B33-E1C093F36C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" name="AutoShape 8" descr="かわいいヤギ (動物/自然・文化・その他の介護イラスト素材) | 介護アンテナ">
            <a:extLst>
              <a:ext uri="{FF2B5EF4-FFF2-40B4-BE49-F238E27FC236}">
                <a16:creationId xmlns:a16="http://schemas.microsoft.com/office/drawing/2014/main" id="{D327065A-5430-42E5-3DDE-7087338C0F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2" descr="フリーイラスト] エッフェル塔とフランス国旗 | パブリックドメインQ：著作権フリー画像素材集">
            <a:extLst>
              <a:ext uri="{FF2B5EF4-FFF2-40B4-BE49-F238E27FC236}">
                <a16:creationId xmlns:a16="http://schemas.microsoft.com/office/drawing/2014/main" id="{A971EBC1-F8E8-02BD-95E1-B8DA82CAE5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59098" y="363171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2" descr="フリーイラスト] エッフェル塔とフランス国旗 | パブリックドメインQ：著作権フリー画像素材集">
            <a:extLst>
              <a:ext uri="{FF2B5EF4-FFF2-40B4-BE49-F238E27FC236}">
                <a16:creationId xmlns:a16="http://schemas.microsoft.com/office/drawing/2014/main" id="{AA1EBEAF-0DC9-716B-5989-F733CF45B4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84867" y="3581400"/>
            <a:ext cx="269086" cy="26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2" name="AutoShape 6" descr="フリーイラスト] エッフェル塔とフランス国旗 | パブリックドメインQ：著作権フリー画像素材集">
            <a:extLst>
              <a:ext uri="{FF2B5EF4-FFF2-40B4-BE49-F238E27FC236}">
                <a16:creationId xmlns:a16="http://schemas.microsoft.com/office/drawing/2014/main" id="{2FE0BC33-510E-9DB8-DEB2-89D6F9DF2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" name="AutoShape 2" descr="フリーイラスト] エッフェル塔とフランス国旗 | パブリックドメインQ：著作権フリー画像素材集">
            <a:extLst>
              <a:ext uri="{FF2B5EF4-FFF2-40B4-BE49-F238E27FC236}">
                <a16:creationId xmlns:a16="http://schemas.microsoft.com/office/drawing/2014/main" id="{32E61FE6-1720-E3A5-DF1A-A7AC0BA64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пить, Стеклянная бутылка, вино, Алкогольный напи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058E27A-50F4-4DAD-8318-7D3C9F52B3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394" y="3429000"/>
            <a:ext cx="1864806" cy="2413989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снимок экрана, неб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EC3238-4896-25E1-7ADE-301AA5F3B3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69" y="2410584"/>
            <a:ext cx="3514096" cy="2342730"/>
          </a:xfrm>
          <a:prstGeom prst="rect">
            <a:avLst/>
          </a:prstGeom>
        </p:spPr>
      </p:pic>
      <p:pic>
        <p:nvPicPr>
          <p:cNvPr id="23" name="Рисунок 22" descr="Изображение выглядит как Предметная фотография, свет, цве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2E9869-252F-1D9A-1723-79E9CD0E9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261" y="2393315"/>
            <a:ext cx="2218396" cy="2218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89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8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03442" y="376211"/>
            <a:ext cx="4807911" cy="7565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uz-Latn-UZ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UMUMLASHTIRAMIZ</a:t>
            </a:r>
            <a:endParaRPr lang="en-US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Прямоугольник 6"/>
          <p:cNvSpPr/>
          <p:nvPr/>
        </p:nvSpPr>
        <p:spPr>
          <a:xfrm>
            <a:off x="525081" y="1602352"/>
            <a:ext cx="4171779" cy="174874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ea typeface="UD Digi Kyokasho N" panose="02020400000000000000" pitchFamily="17" charset="-128"/>
              </a:rPr>
              <a:t>ALIFBO: KATAKANA </a:t>
            </a:r>
          </a:p>
          <a:p>
            <a:pPr algn="ctr"/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ワ　</a:t>
            </a:r>
            <a:r>
              <a:rPr lang="ru-RU" altLang="ja-JP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 </a:t>
            </a:r>
            <a:r>
              <a:rPr lang="ja-JP" altLang="en-US" sz="32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ヲ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</a:t>
            </a:r>
            <a:r>
              <a:rPr lang="ru-RU" altLang="ja-JP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ja-JP" altLang="en-US" sz="32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ン</a:t>
            </a:r>
            <a:r>
              <a:rPr lang="ja-JP" altLang="en-US" sz="32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　　</a:t>
            </a:r>
            <a:endParaRPr lang="ru-RU" altLang="ja-JP" sz="32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WA  </a:t>
            </a:r>
            <a:r>
              <a:rPr lang="ja-JP" altLang="en-US" sz="2800" b="1" dirty="0">
                <a:solidFill>
                  <a:srgbClr val="FF000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ru-RU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chemeClr val="accent1">
                    <a:lumMod val="75000"/>
                  </a:schemeClr>
                </a:solidFill>
                <a:ea typeface="UD Digi Kyokasho N" panose="02020400000000000000" pitchFamily="17" charset="-128"/>
              </a:rPr>
              <a:t>WO</a:t>
            </a:r>
            <a:r>
              <a:rPr lang="en-US" altLang="ja-JP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  </a:t>
            </a:r>
            <a:r>
              <a:rPr lang="ja-JP" altLang="en-US" sz="2800" b="1" dirty="0">
                <a:solidFill>
                  <a:srgbClr val="7030A0"/>
                </a:solidFill>
                <a:ea typeface="UD Digi Kyokasho N" panose="02020400000000000000" pitchFamily="17" charset="-128"/>
              </a:rPr>
              <a:t> </a:t>
            </a:r>
            <a:r>
              <a:rPr lang="en-US" altLang="ja-JP" sz="2800" b="1" dirty="0">
                <a:solidFill>
                  <a:srgbClr val="92D050"/>
                </a:solidFill>
                <a:ea typeface="UD Digi Kyokasho N" panose="02020400000000000000" pitchFamily="17" charset="-128"/>
              </a:rPr>
              <a:t>N</a:t>
            </a:r>
            <a:endParaRPr lang="ru-RU" altLang="ja-JP" sz="2800" b="1" dirty="0">
              <a:solidFill>
                <a:srgbClr val="7030A0"/>
              </a:solidFill>
              <a:ea typeface="UD Digi Kyokasho N" panose="02020400000000000000" pitchFamily="17" charset="-128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545742" y="3636773"/>
            <a:ext cx="4171779" cy="2274325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Latn-UZ"/>
          </a:p>
        </p:txBody>
      </p:sp>
      <p:pic>
        <p:nvPicPr>
          <p:cNvPr id="9" name="Picture 2" descr="ワニのイラスト | 商用OKの無料イラスト素材サイト ツカッテ ワニ">
            <a:extLst>
              <a:ext uri="{FF2B5EF4-FFF2-40B4-BE49-F238E27FC236}">
                <a16:creationId xmlns:a16="http://schemas.microsoft.com/office/drawing/2014/main" id="{C567EBC8-EC55-6BAE-7F03-B36ED8B4B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30" y="3640428"/>
            <a:ext cx="1025164" cy="102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40点を超えるアンナのイラスト素材、ロイヤリティフリーのベクター素材グラフィックスとクリップアート - iStock">
            <a:extLst>
              <a:ext uri="{FF2B5EF4-FFF2-40B4-BE49-F238E27FC236}">
                <a16:creationId xmlns:a16="http://schemas.microsoft.com/office/drawing/2014/main" id="{4285D6EF-343E-FE6E-2A9D-588493AD9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319" y="3698572"/>
            <a:ext cx="1430481" cy="99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 descr="Изображение выглядит как снимок экрана, неб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01F48E0-F1A0-4259-E10F-B61A3325AE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30" y="4603206"/>
            <a:ext cx="1916021" cy="1277347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пить, Стеклянная бутылка, вино, Алкогольный напи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EFF600-4052-EC80-9529-75BB269C09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763" y="4108812"/>
            <a:ext cx="1431471" cy="1853037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Предметная фотография, свет, цвет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11F8B0-427B-5A1B-E262-99A3D95642C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739" y="3682297"/>
            <a:ext cx="1073116" cy="1073116"/>
          </a:xfrm>
          <a:prstGeom prst="rect">
            <a:avLst/>
          </a:prstGeom>
        </p:spPr>
      </p:pic>
      <p:sp>
        <p:nvSpPr>
          <p:cNvPr id="16" name="Rectangle 19">
            <a:extLst>
              <a:ext uri="{FF2B5EF4-FFF2-40B4-BE49-F238E27FC236}">
                <a16:creationId xmlns:a16="http://schemas.microsoft.com/office/drawing/2014/main" id="{4A26C786-AAF7-7287-AE9A-1FAA718874DA}"/>
              </a:ext>
            </a:extLst>
          </p:cNvPr>
          <p:cNvSpPr/>
          <p:nvPr/>
        </p:nvSpPr>
        <p:spPr>
          <a:xfrm>
            <a:off x="4890006" y="4382078"/>
            <a:ext cx="3710626" cy="74666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YANGI SO’ZLAR 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DE77574D-AB49-227E-6E8D-FCBBCD8EF1DD}"/>
              </a:ext>
            </a:extLst>
          </p:cNvPr>
          <p:cNvSpPr/>
          <p:nvPr/>
        </p:nvSpPr>
        <p:spPr>
          <a:xfrm>
            <a:off x="4890006" y="2142886"/>
            <a:ext cx="3710626" cy="746669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HARFLAR </a:t>
            </a:r>
          </a:p>
        </p:txBody>
      </p:sp>
    </p:spTree>
    <p:extLst>
      <p:ext uri="{BB962C8B-B14F-4D97-AF65-F5344CB8AC3E}">
        <p14:creationId xmlns:p14="http://schemas.microsoft.com/office/powerpoint/2010/main" val="2422848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26"/>
    </mc:Choice>
    <mc:Fallback xmlns="">
      <p:transition spd="slow" advTm="5362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794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NIHONGO</a:t>
            </a:r>
            <a:r>
              <a:rPr lang="uz-Latn-UZ" altLang="ja-JP" sz="4400" b="1" dirty="0">
                <a:ea typeface="Calibri" panose="020F0502020204030204" pitchFamily="34" charset="0"/>
                <a:cs typeface="Calibri" panose="020F0502020204030204" pitchFamily="34" charset="0"/>
              </a:rPr>
              <a:t> NO MICHI</a:t>
            </a:r>
            <a:endParaRPr lang="en-US" altLang="ja-JP" sz="4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ja-JP" altLang="en-US" sz="4400" b="1" dirty="0">
                <a:ea typeface="UD Digi Kyokasho N" panose="02020400000000000000" pitchFamily="17" charset="-128"/>
                <a:cs typeface="Calibri" panose="020F0502020204030204" pitchFamily="34" charset="0"/>
              </a:rPr>
              <a:t>日本語の道</a:t>
            </a:r>
            <a:endParaRPr lang="en-US" sz="4400" b="1" dirty="0">
              <a:ea typeface="UD Digi Kyokasho N" panose="02020400000000000000" pitchFamily="17" charset="-128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F2FF11-010B-BAAF-70C7-9ED07596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64E30-38C3-41E0-E8E5-94ACB03D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E18786-6875-8076-929D-304056D657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5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97"/>
    </mc:Choice>
    <mc:Fallback xmlns="">
      <p:transition spd="slow" advTm="3619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1.7|1.5|1.3|1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7|8.2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15300</TotalTime>
  <Words>82</Words>
  <Application>Microsoft Office PowerPoint</Application>
  <PresentationFormat>Широкоэкранный</PresentationFormat>
  <Paragraphs>39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UD Digi Kyokasho N</vt:lpstr>
      <vt:lpstr>UD Digi Kyokasho N</vt:lpstr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ﾅ</dc:title>
  <dc:creator>shaxboz2027@gmail.com</dc:creator>
  <cp:lastModifiedBy>Mavluda Kamolova</cp:lastModifiedBy>
  <cp:revision>100</cp:revision>
  <dcterms:created xsi:type="dcterms:W3CDTF">2026-01-28T00:18:32Z</dcterms:created>
  <dcterms:modified xsi:type="dcterms:W3CDTF">2026-02-23T05:20:35Z</dcterms:modified>
</cp:coreProperties>
</file>