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"/>
  </p:notesMasterIdLst>
  <p:sldIdLst>
    <p:sldId id="256" r:id="rId4"/>
    <p:sldId id="295" r:id="rId5"/>
    <p:sldId id="294" r:id="rId7"/>
    <p:sldId id="265" r:id="rId8"/>
    <p:sldId id="257" r:id="rId9"/>
    <p:sldId id="264" r:id="rId10"/>
    <p:sldId id="258" r:id="rId11"/>
    <p:sldId id="278" r:id="rId12"/>
    <p:sldId id="270" r:id="rId13"/>
    <p:sldId id="298" r:id="rId14"/>
    <p:sldId id="259" r:id="rId15"/>
    <p:sldId id="272" r:id="rId16"/>
    <p:sldId id="271" r:id="rId17"/>
    <p:sldId id="280" r:id="rId18"/>
    <p:sldId id="273" r:id="rId19"/>
    <p:sldId id="290" r:id="rId20"/>
    <p:sldId id="300" r:id="rId21"/>
    <p:sldId id="277" r:id="rId22"/>
    <p:sldId id="293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3F9B9"/>
    <a:srgbClr val="D5E9C9"/>
    <a:srgbClr val="C1DFAF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0.jpe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jpe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GIF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.png"/><Relationship Id="rId3" Type="http://schemas.openxmlformats.org/officeDocument/2006/relationships/image" Target="../media/image16.GIF"/><Relationship Id="rId2" Type="http://schemas.openxmlformats.org/officeDocument/2006/relationships/image" Target="../media/image18.png"/><Relationship Id="rId1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GIF"/><Relationship Id="rId2" Type="http://schemas.openxmlformats.org/officeDocument/2006/relationships/image" Target="../media/image15.png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6.GIF"/><Relationship Id="rId4" Type="http://schemas.openxmlformats.org/officeDocument/2006/relationships/image" Target="../media/image15.png"/><Relationship Id="rId3" Type="http://schemas.openxmlformats.org/officeDocument/2006/relationships/image" Target="../media/image20.GIF"/><Relationship Id="rId2" Type="http://schemas.openxmlformats.org/officeDocument/2006/relationships/image" Target="../media/image18.png"/><Relationship Id="rId1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GIF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5.jpeg"/><Relationship Id="rId3" Type="http://schemas.openxmlformats.org/officeDocument/2006/relationships/image" Target="../media/image16.GIF"/><Relationship Id="rId2" Type="http://schemas.openxmlformats.org/officeDocument/2006/relationships/image" Target="../media/image24.GIF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GIF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GIF"/><Relationship Id="rId2" Type="http://schemas.openxmlformats.org/officeDocument/2006/relationships/image" Target="../media/image16.GIF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GIF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0.GIF"/><Relationship Id="rId3" Type="http://schemas.openxmlformats.org/officeDocument/2006/relationships/image" Target="../media/image29.GIF"/><Relationship Id="rId2" Type="http://schemas.openxmlformats.org/officeDocument/2006/relationships/image" Target="../media/image30.png"/><Relationship Id="rId1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1.jpeg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Relationship Id="rId3" Type="http://schemas.openxmlformats.org/officeDocument/2006/relationships/image" Target="../media/image31.jpeg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image" Target="../media/image25.jpeg"/><Relationship Id="rId7" Type="http://schemas.openxmlformats.org/officeDocument/2006/relationships/image" Target="../media/image30.png"/><Relationship Id="rId6" Type="http://schemas.openxmlformats.org/officeDocument/2006/relationships/image" Target="../media/image28.png"/><Relationship Id="rId5" Type="http://schemas.openxmlformats.org/officeDocument/2006/relationships/image" Target="../media/image17.jpeg"/><Relationship Id="rId4" Type="http://schemas.openxmlformats.org/officeDocument/2006/relationships/image" Target="../media/image11.jpe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2.png"/><Relationship Id="rId10" Type="http://schemas.openxmlformats.org/officeDocument/2006/relationships/image" Target="../media/image12.jpe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297180" y="314325"/>
            <a:ext cx="4123690" cy="1114425"/>
          </a:xfrm>
          <a:prstGeom prst="roundRect">
            <a:avLst>
              <a:gd name="adj" fmla="val 17995"/>
            </a:avLst>
          </a:prstGeom>
          <a:solidFill>
            <a:schemeClr val="bg1">
              <a:lumMod val="95000"/>
            </a:schemeClr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+mn-ea"/>
                <a:ea typeface="UD Digi Kyokasho N" panose="02020400000000000000" pitchFamily="17" charset="-128"/>
                <a:cs typeface="+mn-ea"/>
                <a:sym typeface="+mn-ea"/>
              </a:rPr>
              <a:t>NIHONGO NO MICHI</a:t>
            </a:r>
            <a:endParaRPr lang="en-US" altLang="ja-JP" sz="4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  <a:cs typeface="+mn-ea"/>
              <a:sym typeface="+mn-ea"/>
            </a:endParaRPr>
          </a:p>
        </p:txBody>
      </p:sp>
      <p:sp>
        <p:nvSpPr>
          <p:cNvPr id="7" name="Rectangle: Rounded Corners 8"/>
          <p:cNvSpPr/>
          <p:nvPr/>
        </p:nvSpPr>
        <p:spPr>
          <a:xfrm>
            <a:off x="2502535" y="1718310"/>
            <a:ext cx="6580505" cy="218948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atin typeface="+mn-ea"/>
                <a:ea typeface="UD Digi Kyokasho N" panose="02020400000000000000" pitchFamily="17" charset="-128"/>
                <a:cs typeface="+mn-ea"/>
                <a:sym typeface="+mn-ea"/>
              </a:rPr>
              <a:t>ALIFBO: KATAKANA</a:t>
            </a:r>
            <a:r>
              <a:rPr lang="en-US" altLang="ja-JP" sz="4400" b="1" dirty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endParaRPr lang="en-US" altLang="ja-JP" sz="5000" b="1" dirty="0">
              <a:latin typeface="+mn-ea"/>
              <a:ea typeface="UD Digi Kyokasho N" panose="02020400000000000000" pitchFamily="17" charset="-128"/>
              <a:cs typeface="+mn-ea"/>
            </a:endParaRPr>
          </a:p>
          <a:p>
            <a:pPr algn="ctr"/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ア </a:t>
            </a:r>
            <a:r>
              <a:rPr lang="ja-JP" altLang="en-US" sz="5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 </a:t>
            </a:r>
            <a:r>
              <a:rPr lang="ja-JP" altLang="en-US" sz="5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 </a:t>
            </a:r>
            <a:r>
              <a:rPr lang="ja-JP" altLang="en-US" sz="5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エ </a:t>
            </a:r>
            <a:r>
              <a:rPr lang="ja-JP" altLang="en-US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オ</a:t>
            </a:r>
            <a:endParaRPr lang="en-US" altLang="ja-JP" sz="5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5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</a:t>
            </a:r>
            <a:r>
              <a:rPr lang="en-US" altLang="ja-JP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</a:t>
            </a:r>
            <a:r>
              <a:rPr lang="en-US" altLang="ja-JP" sz="36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</a:t>
            </a:r>
            <a:r>
              <a:rPr lang="en-US" altLang="ja-JP" sz="36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en-US" altLang="ja-JP" sz="36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O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419475" y="4334510"/>
            <a:ext cx="1345565" cy="19113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354" y="4669133"/>
            <a:ext cx="922856" cy="121096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rcRect l="8458"/>
          <a:stretch>
            <a:fillRect/>
          </a:stretch>
        </p:blipFill>
        <p:spPr>
          <a:xfrm>
            <a:off x="6054725" y="4334510"/>
            <a:ext cx="1345565" cy="1911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5935" y="409575"/>
            <a:ext cx="1165225" cy="1147445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1955800" y="340360"/>
            <a:ext cx="6192520" cy="66103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+mn-ea"/>
                <a:ea typeface="UD Digi Kyokasho N" panose="02020400000000000000" pitchFamily="17" charset="-128"/>
                <a:cs typeface="+mn-ea"/>
              </a:rPr>
              <a:t>HIRAGANA VA KATAKANA</a:t>
            </a:r>
            <a:endParaRPr lang="en-US" sz="36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rcRect t="12687"/>
          <a:stretch>
            <a:fillRect/>
          </a:stretch>
        </p:blipFill>
        <p:spPr>
          <a:xfrm>
            <a:off x="290195" y="1367155"/>
            <a:ext cx="4724400" cy="2593340"/>
          </a:xfrm>
          <a:prstGeom prst="rect">
            <a:avLst/>
          </a:prstGeom>
        </p:spPr>
      </p:pic>
      <p:pic>
        <p:nvPicPr>
          <p:cNvPr id="14" name="Picture 13" descr="fashion_wafuku_woma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6435" y="4082415"/>
            <a:ext cx="1454785" cy="2243455"/>
          </a:xfrm>
          <a:prstGeom prst="rect">
            <a:avLst/>
          </a:prstGeom>
        </p:spPr>
      </p:pic>
      <p:pic>
        <p:nvPicPr>
          <p:cNvPr id="2" name="Picture 1" descr="business_eigyou_woma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3355" y="3960495"/>
            <a:ext cx="2129155" cy="2311400"/>
          </a:xfrm>
          <a:prstGeom prst="rect">
            <a:avLst/>
          </a:prstGeom>
        </p:spPr>
      </p:pic>
      <p:pic>
        <p:nvPicPr>
          <p:cNvPr id="7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5058410" y="1367155"/>
            <a:ext cx="4725035" cy="26060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4657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525" y="409575"/>
            <a:ext cx="1111885" cy="1094740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1329690" y="339725"/>
            <a:ext cx="7969250" cy="56896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+mn-ea"/>
                <a:ea typeface="UD Digi Kyokasho N" panose="02020400000000000000" pitchFamily="17" charset="-128"/>
                <a:cs typeface="+mn-ea"/>
              </a:rPr>
              <a:t>KATAKANANING ISHLATILISHI</a:t>
            </a:r>
            <a:endParaRPr lang="en-US" sz="40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1,500点を超えるウズベキスタン国旗 イラストのストックフォト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60" y="3053080"/>
            <a:ext cx="2657475" cy="1412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: Rounded Corners 7"/>
          <p:cNvSpPr/>
          <p:nvPr/>
        </p:nvSpPr>
        <p:spPr>
          <a:xfrm>
            <a:off x="3462020" y="1518285"/>
            <a:ext cx="5838190" cy="112649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+mn-ea"/>
                <a:ea typeface="UD Digi Kyokasho N" panose="02020400000000000000" pitchFamily="17" charset="-128"/>
                <a:cs typeface="+mn-ea"/>
              </a:rPr>
              <a:t>CHET TILIDAN KIRGAN SO’ZLAR</a:t>
            </a:r>
            <a:endParaRPr lang="en-US" sz="28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sp>
        <p:nvSpPr>
          <p:cNvPr id="20" name="Rectangle: Rounded Corners 7"/>
          <p:cNvSpPr/>
          <p:nvPr/>
        </p:nvSpPr>
        <p:spPr>
          <a:xfrm>
            <a:off x="3418840" y="3255010"/>
            <a:ext cx="5880100" cy="114998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+mn-ea"/>
                <a:ea typeface="UD Digi Kyokasho N" panose="02020400000000000000" pitchFamily="17" charset="-128"/>
                <a:cs typeface="+mn-ea"/>
              </a:rPr>
              <a:t>XORIJIY NOMLAR VA DAVLAT NOMLARI</a:t>
            </a:r>
            <a:endParaRPr lang="en-US" sz="28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pic>
        <p:nvPicPr>
          <p:cNvPr id="21" name="Picture 20" descr="thumbnail_text_g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60" y="4610735"/>
            <a:ext cx="2657475" cy="1552575"/>
          </a:xfrm>
          <a:prstGeom prst="rect">
            <a:avLst/>
          </a:prstGeom>
          <a:effectLst/>
        </p:spPr>
      </p:pic>
      <p:sp>
        <p:nvSpPr>
          <p:cNvPr id="22" name="Rectangle: Rounded Corners 7"/>
          <p:cNvSpPr/>
          <p:nvPr/>
        </p:nvSpPr>
        <p:spPr>
          <a:xfrm>
            <a:off x="3466465" y="5038725"/>
            <a:ext cx="5835015" cy="70040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+mn-ea"/>
                <a:ea typeface="UD Digi Kyokasho N" panose="02020400000000000000" pitchFamily="17" charset="-128"/>
                <a:cs typeface="+mn-ea"/>
              </a:rPr>
              <a:t>UNDOV SO’ZLAR</a:t>
            </a:r>
            <a:endParaRPr lang="en-US" sz="2800" b="1" dirty="0">
              <a:latin typeface="+mn-ea"/>
              <a:ea typeface="UD Digi Kyokasho N" panose="02020400000000000000" pitchFamily="17" charset="-128"/>
              <a:cs typeface="+mn-ea"/>
            </a:endParaRPr>
          </a:p>
        </p:txBody>
      </p:sp>
      <p:pic>
        <p:nvPicPr>
          <p:cNvPr id="23" name="Picture 22" descr="e2c0b45c4ae708b2704153d06bed0162_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860" y="1255395"/>
            <a:ext cx="2658110" cy="1667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20" grpId="0" bldLvl="0" animBg="1"/>
      <p:bldP spid="20" grpId="1" animBg="1"/>
      <p:bldP spid="22" grpId="0" animBg="1"/>
      <p:bldP spid="22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0"/>
            <a:ext cx="12192000" cy="6846570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/>
          <p:cNvSpPr/>
          <p:nvPr/>
        </p:nvSpPr>
        <p:spPr>
          <a:xfrm>
            <a:off x="393065" y="340360"/>
            <a:ext cx="3153410" cy="556895"/>
          </a:xfrm>
          <a:prstGeom prst="roundRect">
            <a:avLst/>
          </a:prstGeom>
          <a:noFill/>
          <a:ln w="57150"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6C3FF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tx1"/>
                </a:solidFill>
              </a:rPr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2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" t="1967" r="575" b="1639"/>
          <a:stretch>
            <a:fillRect/>
          </a:stretch>
        </p:blipFill>
        <p:spPr>
          <a:xfrm>
            <a:off x="283212" y="1047750"/>
            <a:ext cx="9448793" cy="5210630"/>
          </a:xfrm>
          <a:prstGeom prst="rect">
            <a:avLst/>
          </a:prstGeom>
        </p:spPr>
      </p:pic>
      <p:sp>
        <p:nvSpPr>
          <p:cNvPr id="7" name="TextBox 4"/>
          <p:cNvSpPr txBox="1"/>
          <p:nvPr/>
        </p:nvSpPr>
        <p:spPr>
          <a:xfrm>
            <a:off x="8716645" y="1047750"/>
            <a:ext cx="907415" cy="5127625"/>
          </a:xfrm>
          <a:prstGeom prst="rect">
            <a:avLst/>
          </a:prstGeom>
          <a:noFill/>
          <a:ln w="57150">
            <a:solidFill>
              <a:srgbClr val="FF0000"/>
            </a:solidFill>
          </a:ln>
          <a:effectLst>
            <a:glow rad="101600">
              <a:srgbClr val="FF0000">
                <a:alpha val="60000"/>
              </a:srgbClr>
            </a:glow>
          </a:effectLst>
        </p:spPr>
        <p:txBody>
          <a:bodyPr wrap="square" rtlCol="0">
            <a:no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  <a:ln>
            <a:solidFill>
              <a:srgbClr val="00B0F0"/>
            </a:solidFill>
          </a:ln>
        </p:spPr>
      </p:pic>
      <p:cxnSp>
        <p:nvCxnSpPr>
          <p:cNvPr id="3" name="Straight Connector 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: Rounded Corners 5"/>
          <p:cNvSpPr/>
          <p:nvPr/>
        </p:nvSpPr>
        <p:spPr>
          <a:xfrm>
            <a:off x="332740" y="340360"/>
            <a:ext cx="6532245" cy="119507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en-US" sz="4000" b="1" dirty="0"/>
              <a:t> YOZILISH TARTIBI</a:t>
            </a:r>
            <a:endParaRPr lang="en-US" sz="4000" b="1" dirty="0"/>
          </a:p>
        </p:txBody>
      </p:sp>
      <p:sp>
        <p:nvSpPr>
          <p:cNvPr id="8" name="Скругленный прямоугольник 15"/>
          <p:cNvSpPr/>
          <p:nvPr/>
        </p:nvSpPr>
        <p:spPr>
          <a:xfrm>
            <a:off x="3978910" y="1813560"/>
            <a:ext cx="2352040" cy="593090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503050405090304" pitchFamily="18" charset="0"/>
              </a:rPr>
              <a:t>A</a:t>
            </a:r>
            <a:endParaRPr lang="en-US" sz="3600" b="1" dirty="0">
              <a:cs typeface="Times New Roman" panose="02020503050405090304" pitchFamily="18" charset="0"/>
            </a:endParaRPr>
          </a:p>
        </p:txBody>
      </p:sp>
      <p:pic>
        <p:nvPicPr>
          <p:cNvPr id="2" name="Picture 1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4875" y="2626995"/>
            <a:ext cx="3420110" cy="3420110"/>
          </a:xfrm>
          <a:prstGeom prst="rect">
            <a:avLst/>
          </a:prstGeom>
          <a:ln>
            <a:solidFill>
              <a:srgbClr val="00B0F0"/>
            </a:solidFill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5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486157" y="3367065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ja-JP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A A A</a:t>
            </a:r>
            <a:endParaRPr kumimoji="0" lang="en-US" altLang="ja-JP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2" name="Picture 1" descr="/Users/rakhmiddinnorboboev/Desktop/Resource/2026-02-16 17.01.31.jpg2026-02-16 17.01.31"/>
          <p:cNvPicPr>
            <a:picLocks noChangeAspect="1"/>
          </p:cNvPicPr>
          <p:nvPr/>
        </p:nvPicPr>
        <p:blipFill>
          <a:blip r:embed="rId1"/>
          <a:srcRect l="1000" r="1000"/>
          <a:stretch>
            <a:fillRect/>
          </a:stretch>
        </p:blipFill>
        <p:spPr>
          <a:xfrm>
            <a:off x="5168900" y="2189480"/>
            <a:ext cx="4479925" cy="4069080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alpha val="100000"/>
              </a:schemeClr>
            </a:outerShdw>
          </a:effectLst>
        </p:spPr>
      </p:pic>
      <p:pic>
        <p:nvPicPr>
          <p:cNvPr id="3" name="Picture 2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8980" y="1731645"/>
            <a:ext cx="1511935" cy="1511935"/>
          </a:xfrm>
          <a:prstGeom prst="rect">
            <a:avLst/>
          </a:prstGeom>
        </p:spPr>
      </p:pic>
      <p:pic>
        <p:nvPicPr>
          <p:cNvPr id="7" name="Picture 2" descr="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10" y="1731645"/>
            <a:ext cx="1511935" cy="1511935"/>
          </a:xfrm>
          <a:prstGeom prst="rect">
            <a:avLst/>
          </a:prstGeom>
        </p:spPr>
      </p:pic>
      <p:pic>
        <p:nvPicPr>
          <p:cNvPr id="9" name="Picture 8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550" y="1731645"/>
            <a:ext cx="1511935" cy="1511935"/>
          </a:xfrm>
          <a:prstGeom prst="rect">
            <a:avLst/>
          </a:prstGeom>
        </p:spPr>
      </p:pic>
      <p:sp>
        <p:nvSpPr>
          <p:cNvPr id="11" name="Rectangle: Rounded Corners 6"/>
          <p:cNvSpPr/>
          <p:nvPr/>
        </p:nvSpPr>
        <p:spPr>
          <a:xfrm>
            <a:off x="445770" y="340360"/>
            <a:ext cx="2959735" cy="65151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SO’ZLAR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5"/>
          <p:cNvSpPr/>
          <p:nvPr/>
        </p:nvSpPr>
        <p:spPr>
          <a:xfrm>
            <a:off x="303530" y="329565"/>
            <a:ext cx="6532245" cy="115316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en-US" sz="4000" b="1" dirty="0"/>
              <a:t> YOZILISH TARTIBI</a:t>
            </a:r>
            <a:endParaRPr lang="en-US" sz="4000" b="1" dirty="0"/>
          </a:p>
        </p:txBody>
      </p:sp>
      <p:pic>
        <p:nvPicPr>
          <p:cNvPr id="2" name="Picture 1" descr="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5665" y="2659380"/>
            <a:ext cx="3420110" cy="3420110"/>
          </a:xfrm>
          <a:prstGeom prst="rect">
            <a:avLst/>
          </a:prstGeom>
        </p:spPr>
      </p:pic>
      <p:sp>
        <p:nvSpPr>
          <p:cNvPr id="8" name="Скругленный прямоугольник 15"/>
          <p:cNvSpPr/>
          <p:nvPr/>
        </p:nvSpPr>
        <p:spPr>
          <a:xfrm>
            <a:off x="3949700" y="1778000"/>
            <a:ext cx="2352040" cy="586105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503050405090304" pitchFamily="18" charset="0"/>
              </a:rPr>
              <a:t>I</a:t>
            </a:r>
            <a:endParaRPr lang="en-US" sz="3600" b="1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4705" y="2988945"/>
            <a:ext cx="2895600" cy="280670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518160" y="2988945"/>
            <a:ext cx="2959735" cy="72009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A I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2" name="Picture 1" descr="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325" y="1207770"/>
            <a:ext cx="1512570" cy="151257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9827046" y="328934"/>
            <a:ext cx="0" cy="5973445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Log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-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55" y="1207770"/>
            <a:ext cx="1511935" cy="1511935"/>
          </a:xfrm>
          <a:prstGeom prst="rect">
            <a:avLst/>
          </a:prstGeom>
        </p:spPr>
      </p:pic>
      <p:pic>
        <p:nvPicPr>
          <p:cNvPr id="16" name="Picture 15" descr="/Users/rakhmiddinnorboboev/Desktop/Resource/body_me.pngbody_me"/>
          <p:cNvPicPr>
            <a:picLocks noChangeAspect="1"/>
          </p:cNvPicPr>
          <p:nvPr/>
        </p:nvPicPr>
        <p:blipFill>
          <a:blip r:embed="rId6"/>
          <a:srcRect t="2922" b="2922"/>
          <a:stretch>
            <a:fillRect/>
          </a:stretch>
        </p:blipFill>
        <p:spPr>
          <a:xfrm>
            <a:off x="5332730" y="2455545"/>
            <a:ext cx="4095750" cy="3522345"/>
          </a:xfrm>
          <a:prstGeom prst="rect">
            <a:avLst/>
          </a:prstGeom>
        </p:spPr>
      </p:pic>
      <p:sp>
        <p:nvSpPr>
          <p:cNvPr id="11" name="Rectangle: Rounded Corners 6"/>
          <p:cNvSpPr/>
          <p:nvPr/>
        </p:nvSpPr>
        <p:spPr>
          <a:xfrm>
            <a:off x="445770" y="340360"/>
            <a:ext cx="2959735" cy="65151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SO’ZLAR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83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08614"/>
            <a:ext cx="0" cy="5993765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21310"/>
            <a:ext cx="6532245" cy="116776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en-US" sz="4000" b="1" dirty="0"/>
              <a:t> YOZILISH TARTIBI</a:t>
            </a:r>
            <a:endParaRPr lang="en-US" sz="4000" b="1" dirty="0"/>
          </a:p>
        </p:txBody>
      </p:sp>
      <p:pic>
        <p:nvPicPr>
          <p:cNvPr id="2" name="Picture 1" descr="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745" y="2611755"/>
            <a:ext cx="3420110" cy="3420110"/>
          </a:xfrm>
          <a:prstGeom prst="rect">
            <a:avLst/>
          </a:prstGeom>
        </p:spPr>
      </p:pic>
      <p:sp>
        <p:nvSpPr>
          <p:cNvPr id="5" name="Скругленный прямоугольник 15"/>
          <p:cNvSpPr/>
          <p:nvPr/>
        </p:nvSpPr>
        <p:spPr>
          <a:xfrm>
            <a:off x="3954780" y="1797685"/>
            <a:ext cx="2352040" cy="593090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503050405090304" pitchFamily="18" charset="0"/>
              </a:rPr>
              <a:t>U</a:t>
            </a:r>
            <a:endParaRPr lang="en-US" sz="3600" b="1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445770" y="3024505"/>
            <a:ext cx="4566285" cy="80835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+mn-ea"/>
                <a:ea typeface="MS Mincho" panose="02020609040205080304" pitchFamily="49" charset="-128"/>
                <a:cs typeface="+mn-ea"/>
              </a:rPr>
              <a:t>U  A  A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15" name="Объект 1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962" y="1199661"/>
            <a:ext cx="1512000" cy="1512000"/>
          </a:xfrm>
          <a:prstGeom prst="rect">
            <a:avLst/>
          </a:prstGeom>
        </p:spPr>
      </p:pic>
      <p:pic>
        <p:nvPicPr>
          <p:cNvPr id="2" name="Picture 1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65" y="1199515"/>
            <a:ext cx="1511935" cy="1511935"/>
          </a:xfrm>
          <a:prstGeom prst="rect">
            <a:avLst/>
          </a:prstGeom>
        </p:spPr>
      </p:pic>
      <p:pic>
        <p:nvPicPr>
          <p:cNvPr id="3" name="Picture 2" descr="/Users/rakhmiddinnorboboev/Desktop/Resource/2026-02-16 17.01.19.jpg2026-02-16 17.01.19"/>
          <p:cNvPicPr>
            <a:picLocks noChangeAspect="1"/>
          </p:cNvPicPr>
          <p:nvPr/>
        </p:nvPicPr>
        <p:blipFill>
          <a:blip r:embed="rId4"/>
          <a:srcRect l="2784" r="2784"/>
          <a:stretch>
            <a:fillRect/>
          </a:stretch>
        </p:blipFill>
        <p:spPr>
          <a:xfrm>
            <a:off x="5916930" y="2711450"/>
            <a:ext cx="3526790" cy="352679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9827046" y="384179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150" y="1199515"/>
            <a:ext cx="1511935" cy="1511935"/>
          </a:xfrm>
          <a:prstGeom prst="rect">
            <a:avLst/>
          </a:prstGeom>
        </p:spPr>
      </p:pic>
      <p:pic>
        <p:nvPicPr>
          <p:cNvPr id="12" name="Picture 11" descr="a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055" y="1199515"/>
            <a:ext cx="1511935" cy="1511935"/>
          </a:xfrm>
          <a:prstGeom prst="rect">
            <a:avLst/>
          </a:prstGeom>
        </p:spPr>
      </p:pic>
      <p:sp>
        <p:nvSpPr>
          <p:cNvPr id="5" name="Rectangle: Rounded Corners 6"/>
          <p:cNvSpPr/>
          <p:nvPr/>
        </p:nvSpPr>
        <p:spPr>
          <a:xfrm>
            <a:off x="445770" y="340360"/>
            <a:ext cx="2959735" cy="65151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SO’ZLAR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40360"/>
            <a:ext cx="6532245" cy="114681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en-US" sz="4000" b="1" dirty="0"/>
              <a:t> YOZILISH TARTIBI</a:t>
            </a:r>
            <a:endParaRPr lang="en-US" sz="4000" b="1" dirty="0"/>
          </a:p>
        </p:txBody>
      </p:sp>
      <p:pic>
        <p:nvPicPr>
          <p:cNvPr id="2" name="Picture 1" descr="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5185" y="2647950"/>
            <a:ext cx="3455670" cy="3455670"/>
          </a:xfrm>
          <a:prstGeom prst="rect">
            <a:avLst/>
          </a:prstGeom>
        </p:spPr>
      </p:pic>
      <p:sp>
        <p:nvSpPr>
          <p:cNvPr id="5" name="Скругленный прямоугольник 15"/>
          <p:cNvSpPr/>
          <p:nvPr/>
        </p:nvSpPr>
        <p:spPr>
          <a:xfrm>
            <a:off x="3937000" y="1771015"/>
            <a:ext cx="2352040" cy="593090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503050405090304" pitchFamily="18" charset="0"/>
              </a:rPr>
              <a:t>E</a:t>
            </a:r>
            <a:endParaRPr lang="en-US" sz="3600" b="1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2" name="Объект 1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7284" y="1083761"/>
            <a:ext cx="1512000" cy="1512000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452755" y="2778125"/>
            <a:ext cx="2888615" cy="65087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dirty="0">
                <a:solidFill>
                  <a:prstClr val="black"/>
                </a:solidFill>
                <a:latin typeface="+mn-ea"/>
                <a:ea typeface="MS Mincho" panose="02020609040205080304" pitchFamily="49" charset="-128"/>
                <a:cs typeface="+mn-ea"/>
              </a:rPr>
              <a:t>E   A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2" name="Picture 1" descr="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" y="1084580"/>
            <a:ext cx="1511300" cy="1511300"/>
          </a:xfrm>
          <a:prstGeom prst="rect">
            <a:avLst/>
          </a:prstGeom>
        </p:spPr>
      </p:pic>
      <p:sp>
        <p:nvSpPr>
          <p:cNvPr id="3" name="Rectangle: Rounded Corners 6"/>
          <p:cNvSpPr/>
          <p:nvPr/>
        </p:nvSpPr>
        <p:spPr>
          <a:xfrm>
            <a:off x="452755" y="3611245"/>
            <a:ext cx="2888615" cy="652145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AIR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5" name="Picture 4" descr="car_airba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110" y="3090545"/>
            <a:ext cx="5633720" cy="2955925"/>
          </a:xfrm>
          <a:prstGeom prst="rect">
            <a:avLst/>
          </a:prstGeom>
        </p:spPr>
      </p:pic>
      <p:pic>
        <p:nvPicPr>
          <p:cNvPr id="11" name="Picture 10" descr="air_kuuk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345" y="450215"/>
            <a:ext cx="2656205" cy="264033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Log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: Rounded Corners 6"/>
          <p:cNvSpPr/>
          <p:nvPr/>
        </p:nvSpPr>
        <p:spPr>
          <a:xfrm>
            <a:off x="445770" y="340360"/>
            <a:ext cx="2959735" cy="65151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SO’ZLAR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23850"/>
            <a:ext cx="6532245" cy="1104900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KATAKANA</a:t>
            </a:r>
            <a:r>
              <a:rPr lang="en-US" sz="4000" b="1" dirty="0"/>
              <a:t> YOZILISH TARTIBI</a:t>
            </a:r>
            <a:endParaRPr lang="en-US" sz="4000" b="1" dirty="0"/>
          </a:p>
        </p:txBody>
      </p:sp>
      <p:pic>
        <p:nvPicPr>
          <p:cNvPr id="2" name="Picture 1" descr="o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745" y="2682875"/>
            <a:ext cx="3420110" cy="3420110"/>
          </a:xfrm>
          <a:prstGeom prst="rect">
            <a:avLst/>
          </a:prstGeom>
        </p:spPr>
      </p:pic>
      <p:sp>
        <p:nvSpPr>
          <p:cNvPr id="6" name="Скругленный прямоугольник 15"/>
          <p:cNvSpPr/>
          <p:nvPr/>
        </p:nvSpPr>
        <p:spPr>
          <a:xfrm>
            <a:off x="3954780" y="1758950"/>
            <a:ext cx="2352040" cy="593090"/>
          </a:xfrm>
          <a:prstGeom prst="roundRect">
            <a:avLst/>
          </a:prstGeom>
          <a:solidFill>
            <a:srgbClr val="DAE3F3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cs typeface="Times New Roman" panose="02020503050405090304" pitchFamily="18" charset="0"/>
              </a:rPr>
              <a:t>O</a:t>
            </a:r>
            <a:endParaRPr lang="en-US" sz="3600" b="1" dirty="0"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: Rounded Corners 6"/>
          <p:cNvSpPr/>
          <p:nvPr/>
        </p:nvSpPr>
        <p:spPr>
          <a:xfrm>
            <a:off x="445632" y="3428476"/>
            <a:ext cx="2919470" cy="651154"/>
          </a:xfrm>
          <a:prstGeom prst="roundRect">
            <a:avLst/>
          </a:prstGeom>
          <a:solidFill>
            <a:sysClr val="window" lastClr="FFFFFF"/>
          </a:solidFill>
          <a:ln w="571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000" b="1" kern="0" noProof="0" dirty="0">
                <a:solidFill>
                  <a:prstClr val="black"/>
                </a:solidFill>
                <a:latin typeface="+mn-ea"/>
                <a:ea typeface="MS Mincho" panose="02020609040205080304" pitchFamily="49" charset="-128"/>
                <a:cs typeface="+mn-ea"/>
              </a:rPr>
              <a:t>O O </a:t>
            </a:r>
            <a:r>
              <a:rPr lang="en-US" sz="4000" b="1" kern="0" noProof="0" dirty="0">
                <a:solidFill>
                  <a:prstClr val="black"/>
                </a:solidFill>
                <a:latin typeface="+mn-ea"/>
                <a:ea typeface="MS Mincho" panose="02020609040205080304" pitchFamily="49" charset="-128"/>
                <a:cs typeface="+mn-ea"/>
              </a:rPr>
              <a:t>I</a:t>
            </a:r>
            <a:endParaRPr lang="en-US" sz="4000" b="1" kern="0" noProof="0" dirty="0">
              <a:solidFill>
                <a:prstClr val="black"/>
              </a:solidFill>
              <a:latin typeface="+mn-ea"/>
              <a:ea typeface="MS Mincho" panose="02020609040205080304" pitchFamily="49" charset="-128"/>
              <a:cs typeface="+mn-ea"/>
            </a:endParaRPr>
          </a:p>
        </p:txBody>
      </p:sp>
      <p:pic>
        <p:nvPicPr>
          <p:cNvPr id="2" name="Picture 1" descr="manner_oogoe_bo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5765" y="1872615"/>
            <a:ext cx="3992245" cy="3573780"/>
          </a:xfrm>
          <a:prstGeom prst="rect">
            <a:avLst/>
          </a:prstGeom>
        </p:spPr>
      </p:pic>
      <p:pic>
        <p:nvPicPr>
          <p:cNvPr id="8" name="Picture 7" descr="o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" y="1454150"/>
            <a:ext cx="1511935" cy="1511935"/>
          </a:xfrm>
          <a:prstGeom prst="rect">
            <a:avLst/>
          </a:prstGeom>
        </p:spPr>
      </p:pic>
      <p:pic>
        <p:nvPicPr>
          <p:cNvPr id="9" name="Picture 8" descr="o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45" y="1454785"/>
            <a:ext cx="1511935" cy="1511935"/>
          </a:xfrm>
          <a:prstGeom prst="rect">
            <a:avLst/>
          </a:prstGeom>
        </p:spPr>
      </p:pic>
      <p:pic>
        <p:nvPicPr>
          <p:cNvPr id="10" name="Picture 9" descr="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610" y="1454785"/>
            <a:ext cx="1512570" cy="151257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Logo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: Rounded Corners 6"/>
          <p:cNvSpPr/>
          <p:nvPr/>
        </p:nvSpPr>
        <p:spPr>
          <a:xfrm>
            <a:off x="445770" y="340360"/>
            <a:ext cx="2959735" cy="651510"/>
          </a:xfrm>
          <a:prstGeom prst="roundRect">
            <a:avLst/>
          </a:prstGeom>
          <a:ln w="57150" cap="flat" cmpd="sng">
            <a:solidFill>
              <a:schemeClr val="accent1">
                <a:lumMod val="75000"/>
              </a:schemeClr>
            </a:solidFill>
            <a:prstDash val="solid"/>
            <a:miter lim="800000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MS Mincho" panose="02020609040205080304" pitchFamily="49" charset="-128"/>
                <a:cs typeface="+mn-ea"/>
              </a:rPr>
              <a:t>SO’ZLAR</a:t>
            </a:r>
            <a:endParaRPr kumimoji="0" lang="en-US" sz="4000" b="1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MS Mincho" panose="02020609040205080304" pitchFamily="49" charset="-128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769409" y="340543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40360"/>
            <a:ext cx="2478405" cy="65087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  <a:endParaRPr lang="en-US" sz="4000" b="1" dirty="0"/>
          </a:p>
        </p:txBody>
      </p:sp>
      <p:sp>
        <p:nvSpPr>
          <p:cNvPr id="12" name="Oval 11"/>
          <p:cNvSpPr/>
          <p:nvPr/>
        </p:nvSpPr>
        <p:spPr>
          <a:xfrm>
            <a:off x="829310" y="1812290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81721" y="2282015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オ</a:t>
            </a:r>
            <a:endParaRPr lang="ja-JP" altLang="en-US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373120" y="1314450"/>
            <a:ext cx="941705" cy="75247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600575" y="2282825"/>
            <a:ext cx="916940" cy="751840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</a:t>
            </a:r>
            <a:endParaRPr lang="ja-JP" altLang="en-US" sz="4000" b="1" dirty="0">
              <a:solidFill>
                <a:srgbClr val="FFC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12176" y="1303456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エ</a:t>
            </a:r>
            <a:endParaRPr lang="ja-JP" altLang="en-US" sz="4000" b="1" dirty="0">
              <a:solidFill>
                <a:srgbClr val="92D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2" name="Picture 1" descr="/Users/rakhmiddinnorboboev/Desktop/Resource/2026-02-23 14.00.02.jpg2026-02-23 14.00.02"/>
          <p:cNvPicPr>
            <a:picLocks noChangeAspect="1"/>
          </p:cNvPicPr>
          <p:nvPr/>
        </p:nvPicPr>
        <p:blipFill>
          <a:blip r:embed="rId3"/>
          <a:srcRect t="8427" b="8427"/>
          <a:stretch>
            <a:fillRect/>
          </a:stretch>
        </p:blipFill>
        <p:spPr>
          <a:xfrm>
            <a:off x="567690" y="4179570"/>
            <a:ext cx="2479040" cy="206121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105025" y="1812925"/>
            <a:ext cx="941705" cy="752475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Oval 5"/>
          <p:cNvSpPr/>
          <p:nvPr/>
        </p:nvSpPr>
        <p:spPr>
          <a:xfrm>
            <a:off x="4415790" y="1301115"/>
            <a:ext cx="942340" cy="75374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Oval 2"/>
          <p:cNvSpPr/>
          <p:nvPr/>
        </p:nvSpPr>
        <p:spPr>
          <a:xfrm>
            <a:off x="7358380" y="1301115"/>
            <a:ext cx="941705" cy="75247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52083 -0.00231481 L -0.00921875 0.23287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5833 -0.00574074 L -0.00192708 0.23305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5" grpId="0" animBg="1"/>
      <p:bldP spid="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782744" y="340543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40360"/>
            <a:ext cx="2479040" cy="65087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  <a:endParaRPr lang="en-US" sz="4000" b="1" dirty="0"/>
          </a:p>
        </p:txBody>
      </p:sp>
      <p:sp>
        <p:nvSpPr>
          <p:cNvPr id="12" name="Oval 11"/>
          <p:cNvSpPr/>
          <p:nvPr/>
        </p:nvSpPr>
        <p:spPr>
          <a:xfrm>
            <a:off x="734060" y="3426460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81721" y="2282015"/>
            <a:ext cx="1018572" cy="75235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オ</a:t>
            </a:r>
            <a:endParaRPr lang="ja-JP" altLang="en-US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373120" y="1314450"/>
            <a:ext cx="941705" cy="75247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576445" y="228155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</a:t>
            </a:r>
            <a:endParaRPr lang="ja-JP" altLang="en-US" sz="4000" b="1" dirty="0">
              <a:solidFill>
                <a:srgbClr val="FFC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712460" y="1303655"/>
            <a:ext cx="1018540" cy="75247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エ</a:t>
            </a:r>
            <a:endParaRPr lang="ja-JP" altLang="en-US" sz="4000" b="1" dirty="0">
              <a:solidFill>
                <a:srgbClr val="92D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Oval 4"/>
          <p:cNvSpPr/>
          <p:nvPr/>
        </p:nvSpPr>
        <p:spPr>
          <a:xfrm>
            <a:off x="2105025" y="3426460"/>
            <a:ext cx="941705" cy="75311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Oval 5"/>
          <p:cNvSpPr/>
          <p:nvPr/>
        </p:nvSpPr>
        <p:spPr>
          <a:xfrm>
            <a:off x="4415790" y="1301115"/>
            <a:ext cx="942340" cy="75374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3" name="Picture 2" descr="/Users/rakhmiddinnorboboev/Desktop/Resource/2026-02-23 14.00.02.jpg2026-02-23 14.00.02"/>
          <p:cNvPicPr>
            <a:picLocks noChangeAspect="1"/>
          </p:cNvPicPr>
          <p:nvPr/>
        </p:nvPicPr>
        <p:blipFill>
          <a:blip r:embed="rId3"/>
          <a:srcRect t="8427" b="8427"/>
          <a:stretch>
            <a:fillRect/>
          </a:stretch>
        </p:blipFill>
        <p:spPr>
          <a:xfrm>
            <a:off x="567690" y="4179570"/>
            <a:ext cx="2479040" cy="2061210"/>
          </a:xfrm>
          <a:prstGeom prst="rect">
            <a:avLst/>
          </a:prstGeom>
        </p:spPr>
      </p:pic>
      <p:pic>
        <p:nvPicPr>
          <p:cNvPr id="7" name="Picture 6" descr="/Users/rakhmiddinnorboboev/Desktop/Resource/body_me.pngbody_me"/>
          <p:cNvPicPr>
            <a:picLocks noChangeAspect="1"/>
          </p:cNvPicPr>
          <p:nvPr/>
        </p:nvPicPr>
        <p:blipFill>
          <a:blip r:embed="rId4"/>
          <a:srcRect t="2922" b="2922"/>
          <a:stretch>
            <a:fillRect/>
          </a:stretch>
        </p:blipFill>
        <p:spPr>
          <a:xfrm>
            <a:off x="3248025" y="3707130"/>
            <a:ext cx="2966720" cy="2551430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7358380" y="1301115"/>
            <a:ext cx="941705" cy="75247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10" name="Picture 9" descr="car_airba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335" y="3952240"/>
            <a:ext cx="3927475" cy="2061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416667 0.298889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97917 0.300741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926562 0.278889 " pathEditMode="relative" ptsTypes="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72917 0.282315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3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6" grpId="0" animBg="1"/>
      <p:bldP spid="6" grpId="1" animBg="1"/>
      <p:bldP spid="19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1"/>
            <a:ext cx="12192000" cy="6857999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9769409" y="340543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/>
          <p:cNvSpPr/>
          <p:nvPr/>
        </p:nvSpPr>
        <p:spPr>
          <a:xfrm>
            <a:off x="308610" y="340360"/>
            <a:ext cx="2612390" cy="650875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/>
              <a:t>MASHQ</a:t>
            </a:r>
            <a:endParaRPr lang="en-US" sz="4000" b="1" dirty="0"/>
          </a:p>
        </p:txBody>
      </p:sp>
      <p:sp>
        <p:nvSpPr>
          <p:cNvPr id="12" name="Oval 11"/>
          <p:cNvSpPr/>
          <p:nvPr/>
        </p:nvSpPr>
        <p:spPr>
          <a:xfrm>
            <a:off x="6057265" y="141541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</a:t>
            </a:r>
            <a:endParaRPr lang="en-US" altLang="ja-JP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55015" y="5347970"/>
            <a:ext cx="917575" cy="7524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オ</a:t>
            </a:r>
            <a:endParaRPr lang="ja-JP" altLang="en-US" sz="4000" b="1" dirty="0">
              <a:solidFill>
                <a:srgbClr val="FF0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56285" y="3342640"/>
            <a:ext cx="917575" cy="752475"/>
          </a:xfrm>
          <a:prstGeom prst="ellipse">
            <a:avLst/>
          </a:prstGeom>
          <a:noFill/>
          <a:ln w="28575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</a:t>
            </a:r>
            <a:endParaRPr lang="ja-JP" altLang="en-US" sz="4000" b="1" dirty="0">
              <a:solidFill>
                <a:srgbClr val="FFC00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56920" y="4344670"/>
            <a:ext cx="916940" cy="752475"/>
          </a:xfrm>
          <a:prstGeom prst="ellips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エ</a:t>
            </a:r>
            <a:endParaRPr lang="ja-JP" altLang="en-US" sz="4000" b="1" dirty="0">
              <a:solidFill>
                <a:srgbClr val="92D05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Oval 5"/>
          <p:cNvSpPr/>
          <p:nvPr/>
        </p:nvSpPr>
        <p:spPr>
          <a:xfrm>
            <a:off x="765810" y="1288415"/>
            <a:ext cx="918210" cy="753745"/>
          </a:xfrm>
          <a:prstGeom prst="ellipse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</a:t>
            </a:r>
            <a:endParaRPr lang="ja-JP" altLang="en-US" sz="40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Oval 2"/>
          <p:cNvSpPr/>
          <p:nvPr/>
        </p:nvSpPr>
        <p:spPr>
          <a:xfrm>
            <a:off x="755015" y="233997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ja-JP" altLang="en-US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ア</a:t>
            </a:r>
            <a:endParaRPr lang="ja-JP" altLang="en-US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Oval 6"/>
          <p:cNvSpPr/>
          <p:nvPr/>
        </p:nvSpPr>
        <p:spPr>
          <a:xfrm>
            <a:off x="6057265" y="233997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</a:t>
            </a:r>
            <a:endParaRPr lang="en-US" altLang="ja-JP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057265" y="3265805"/>
            <a:ext cx="917575" cy="751840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endParaRPr lang="en-US" altLang="ja-JP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057265" y="434403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</a:t>
            </a:r>
            <a:endParaRPr lang="en-US" altLang="ja-JP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6057265" y="5423535"/>
            <a:ext cx="917575" cy="753110"/>
          </a:xfrm>
          <a:prstGeom prst="ellipse">
            <a:avLst/>
          </a:prstGeom>
          <a:noFill/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US" altLang="ja-JP" sz="4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</a:t>
            </a:r>
            <a:endParaRPr lang="en-US" altLang="ja-JP" sz="4000" b="1" dirty="0">
              <a:solidFill>
                <a:srgbClr val="0070C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7188 0.0107407 L 0.342813 0.129074 " pathEditMode="relative" rAng="0" ptsTypes="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" y="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1875 0.00138889 L 0.34375 0.151296 " pathEditMode="relative" rAng="0" ptsTypes="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8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44792 0.00314815 L 0.342083 -0.279074 " pathEditMode="relative" rAng="0" ptsTypes="">
                                      <p:cBhvr>
                                        <p:cTn id="1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1" y="-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46875 0.00138889 L 0.342656 0.152778 " pathEditMode="relative" rAng="0" ptsTypes="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630208 -0.00361111 L 0.343958 -0.147963 " pathEditMode="relative" rAng="0" ptsTypes=""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" y="-7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6" grpId="0" bldLvl="0" animBg="1"/>
      <p:bldP spid="18" grpId="0" animBg="1"/>
      <p:bldP spid="19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9050"/>
            <a:ext cx="12192000" cy="68770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: Rounded Corners 8"/>
          <p:cNvSpPr/>
          <p:nvPr/>
        </p:nvSpPr>
        <p:spPr>
          <a:xfrm>
            <a:off x="474345" y="2315845"/>
            <a:ext cx="4834255" cy="1532890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2800" b="1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+mn-ea"/>
              </a:rPr>
              <a:t>ALIFBO: KATAKANA</a:t>
            </a:r>
            <a:r>
              <a:rPr lang="en-US" altLang="ja-JP" sz="2800" b="1" dirty="0">
                <a:latin typeface="+mn-ea"/>
                <a:ea typeface="UD Digi Kyokasho N" panose="02020400000000000000" pitchFamily="17" charset="-128"/>
                <a:cs typeface="+mn-ea"/>
              </a:rPr>
              <a:t> </a:t>
            </a:r>
            <a:endParaRPr lang="en-US" altLang="ja-JP" sz="3600" b="1" dirty="0">
              <a:latin typeface="+mn-ea"/>
              <a:ea typeface="UD Digi Kyokasho N" panose="02020400000000000000" pitchFamily="17" charset="-128"/>
              <a:cs typeface="+mn-ea"/>
            </a:endParaRPr>
          </a:p>
          <a:p>
            <a:pPr algn="ctr"/>
            <a:r>
              <a:rPr lang="ja-JP" altLang="en-US" sz="36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ア </a:t>
            </a:r>
            <a:r>
              <a:rPr lang="ja-JP" altLang="en-US" sz="36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イ </a:t>
            </a:r>
            <a:r>
              <a:rPr lang="ja-JP" altLang="en-US" sz="36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ウ </a:t>
            </a:r>
            <a:r>
              <a:rPr lang="ja-JP" altLang="en-US" sz="36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エ </a:t>
            </a:r>
            <a:r>
              <a:rPr lang="ja-JP" altLang="en-US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オ</a:t>
            </a:r>
            <a:endParaRPr lang="en-US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 </a:t>
            </a:r>
            <a:r>
              <a:rPr lang="en-US" altLang="ja-JP" sz="2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</a:t>
            </a:r>
            <a:r>
              <a:rPr lang="en-US" altLang="ja-JP" sz="2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</a:t>
            </a:r>
            <a:r>
              <a:rPr lang="en-US" altLang="ja-JP" sz="2000" b="1" dirty="0">
                <a:solidFill>
                  <a:srgbClr val="0070C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</a:t>
            </a:r>
            <a:r>
              <a:rPr lang="en-US" altLang="ja-JP" sz="2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</a:t>
            </a:r>
            <a:r>
              <a:rPr lang="en-US" altLang="ja-JP" sz="2000" b="1" dirty="0">
                <a:solidFill>
                  <a:srgbClr val="92D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</a:t>
            </a:r>
            <a:r>
              <a:rPr lang="en-US" altLang="ja-JP" sz="2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</a:t>
            </a:r>
            <a:r>
              <a:rPr lang="en-US" altLang="ja-JP" sz="2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</a:t>
            </a:r>
            <a:r>
              <a:rPr lang="en-US" altLang="ja-JP" sz="20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O</a:t>
            </a:r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8" name="Rectangle: Rounded Corners 8"/>
          <p:cNvSpPr/>
          <p:nvPr/>
        </p:nvSpPr>
        <p:spPr>
          <a:xfrm>
            <a:off x="458470" y="901065"/>
            <a:ext cx="4834255" cy="1316990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61635" y="1273810"/>
            <a:ext cx="4058285" cy="4552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+mn-ea"/>
                <a:ea typeface="Calibri" charset="0"/>
                <a:cs typeface="+mn-ea"/>
              </a:rPr>
              <a:t>KATAKANANING ISHLATILISHI</a:t>
            </a:r>
            <a:endParaRPr lang="en-US" b="1" dirty="0">
              <a:solidFill>
                <a:schemeClr val="bg1"/>
              </a:solidFill>
              <a:latin typeface="+mn-ea"/>
              <a:ea typeface="Calibri" charset="0"/>
              <a:cs typeface="+mn-ea"/>
            </a:endParaRPr>
          </a:p>
        </p:txBody>
      </p:sp>
      <p:sp>
        <p:nvSpPr>
          <p:cNvPr id="15" name="Rectangle 19"/>
          <p:cNvSpPr/>
          <p:nvPr/>
        </p:nvSpPr>
        <p:spPr>
          <a:xfrm>
            <a:off x="5461635" y="2820670"/>
            <a:ext cx="4058285" cy="4114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+mn-ea"/>
                <a:ea typeface="Calibri" charset="0"/>
                <a:cs typeface="+mn-ea"/>
              </a:rPr>
              <a:t>5 TA HARF</a:t>
            </a:r>
            <a:endParaRPr lang="en-US" sz="2400" b="1" dirty="0">
              <a:solidFill>
                <a:schemeClr val="bg1"/>
              </a:solidFill>
              <a:latin typeface="+mn-ea"/>
              <a:ea typeface="Calibri" charset="0"/>
              <a:cs typeface="+mn-ea"/>
            </a:endParaRPr>
          </a:p>
        </p:txBody>
      </p:sp>
      <p:sp>
        <p:nvSpPr>
          <p:cNvPr id="16" name="Rectangle: Rounded Corners 8"/>
          <p:cNvSpPr/>
          <p:nvPr/>
        </p:nvSpPr>
        <p:spPr>
          <a:xfrm>
            <a:off x="458470" y="3943350"/>
            <a:ext cx="4834255" cy="2229485"/>
          </a:xfrm>
          <a:prstGeom prst="rect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3600" b="1" dirty="0">
                <a:solidFill>
                  <a:srgbClr val="7030A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endParaRPr lang="ru-RU" altLang="ja-JP" sz="3600" b="1" dirty="0">
              <a:solidFill>
                <a:srgbClr val="7030A0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7" name="Rectangle 19"/>
          <p:cNvSpPr/>
          <p:nvPr/>
        </p:nvSpPr>
        <p:spPr>
          <a:xfrm>
            <a:off x="5461635" y="4836795"/>
            <a:ext cx="4058285" cy="4121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+mn-ea"/>
                <a:ea typeface="Calibri" charset="0"/>
                <a:cs typeface="+mn-ea"/>
              </a:rPr>
              <a:t>SO’ZLAR</a:t>
            </a:r>
            <a:endParaRPr lang="en-US" sz="2800" b="1" dirty="0">
              <a:solidFill>
                <a:schemeClr val="bg1"/>
              </a:solidFill>
              <a:latin typeface="+mn-ea"/>
              <a:ea typeface="Calibri" charset="0"/>
              <a:cs typeface="+mn-ea"/>
            </a:endParaRPr>
          </a:p>
        </p:txBody>
      </p:sp>
      <p:pic>
        <p:nvPicPr>
          <p:cNvPr id="1034" name="Picture 10" descr="1,500点を超えるウズベキスタン国旗 イラストのストックフォト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" y="1057910"/>
            <a:ext cx="1521460" cy="1014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/Users/rakhmiddinnorboboev/Desktop/Resource/2026-02-16 17.01.31.jpg2026-02-16 17.01.31"/>
          <p:cNvPicPr>
            <a:picLocks noChangeAspect="1"/>
          </p:cNvPicPr>
          <p:nvPr/>
        </p:nvPicPr>
        <p:blipFill>
          <a:blip r:embed="rId5"/>
          <a:srcRect l="1000" r="1000"/>
          <a:stretch>
            <a:fillRect/>
          </a:stretch>
        </p:blipFill>
        <p:spPr>
          <a:xfrm>
            <a:off x="732790" y="4028440"/>
            <a:ext cx="1021080" cy="1158875"/>
          </a:xfrm>
          <a:prstGeom prst="rect">
            <a:avLst/>
          </a:prstGeom>
        </p:spPr>
      </p:pic>
      <p:pic>
        <p:nvPicPr>
          <p:cNvPr id="19" name="Picture 18" descr="air_kuuk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5810" y="3928745"/>
            <a:ext cx="1345565" cy="1159510"/>
          </a:xfrm>
          <a:prstGeom prst="rect">
            <a:avLst/>
          </a:prstGeom>
        </p:spPr>
      </p:pic>
      <p:pic>
        <p:nvPicPr>
          <p:cNvPr id="21" name="Picture 20" descr="manner_oogoe_bo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305" y="5166995"/>
            <a:ext cx="1123315" cy="1005840"/>
          </a:xfrm>
          <a:prstGeom prst="rect">
            <a:avLst/>
          </a:prstGeom>
        </p:spPr>
      </p:pic>
      <p:pic>
        <p:nvPicPr>
          <p:cNvPr id="23" name="Picture 22" descr="/Users/rakhmiddinnorboboev/Desktop/Resource/2026-02-16 17.01.19.jpg2026-02-16 17.01.19"/>
          <p:cNvPicPr>
            <a:picLocks noChangeAspect="1"/>
          </p:cNvPicPr>
          <p:nvPr/>
        </p:nvPicPr>
        <p:blipFill>
          <a:blip r:embed="rId8"/>
          <a:srcRect l="2784" r="2784"/>
          <a:stretch>
            <a:fillRect/>
          </a:stretch>
        </p:blipFill>
        <p:spPr>
          <a:xfrm>
            <a:off x="2291715" y="5067300"/>
            <a:ext cx="1109980" cy="1014730"/>
          </a:xfrm>
          <a:prstGeom prst="rect">
            <a:avLst/>
          </a:prstGeom>
        </p:spPr>
      </p:pic>
      <p:pic>
        <p:nvPicPr>
          <p:cNvPr id="24" name="Picture 23" descr="e2c0b45c4ae708b2704153d06bed0162_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35810" y="995045"/>
            <a:ext cx="1847850" cy="1159510"/>
          </a:xfrm>
          <a:prstGeom prst="rect">
            <a:avLst/>
          </a:prstGeom>
        </p:spPr>
      </p:pic>
      <p:pic>
        <p:nvPicPr>
          <p:cNvPr id="25" name="Picture 24" descr="thumbnail_text_gi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7935" y="1089660"/>
            <a:ext cx="1430655" cy="977900"/>
          </a:xfrm>
          <a:prstGeom prst="rect">
            <a:avLst/>
          </a:prstGeom>
          <a:effectLst/>
        </p:spPr>
      </p:pic>
      <p:sp>
        <p:nvSpPr>
          <p:cNvPr id="6" name="Rectangle: Rounded Corners 7"/>
          <p:cNvSpPr/>
          <p:nvPr/>
        </p:nvSpPr>
        <p:spPr>
          <a:xfrm>
            <a:off x="2513330" y="245745"/>
            <a:ext cx="5546725" cy="558165"/>
          </a:xfrm>
          <a:prstGeom prst="roundRect">
            <a:avLst/>
          </a:prstGeom>
          <a:solidFill>
            <a:srgbClr val="DAE3F3"/>
          </a:solidFill>
          <a:ln w="57150">
            <a:solidFill>
              <a:srgbClr val="2F55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4000" b="1" dirty="0">
                <a:latin typeface="+mn-ea"/>
                <a:ea typeface="Calibri" charset="0"/>
                <a:cs typeface="+mn-ea"/>
              </a:rPr>
              <a:t>UMUMLASHTIRAMIZ</a:t>
            </a:r>
            <a:endParaRPr lang="en-US" sz="4000" b="1" dirty="0">
              <a:latin typeface="+mn-ea"/>
              <a:ea typeface="Calibri" charset="0"/>
              <a:cs typeface="+mn-ea"/>
            </a:endParaRPr>
          </a:p>
        </p:txBody>
      </p:sp>
      <p:pic>
        <p:nvPicPr>
          <p:cNvPr id="7" name="Picture 6" descr="/Users/rakhmiddinnorboboev/Desktop/Resource/body_me.pngbody_me"/>
          <p:cNvPicPr>
            <a:picLocks noChangeAspect="1"/>
          </p:cNvPicPr>
          <p:nvPr/>
        </p:nvPicPr>
        <p:blipFill>
          <a:blip r:embed="rId11"/>
          <a:srcRect t="2922" b="2922"/>
          <a:stretch>
            <a:fillRect/>
          </a:stretch>
        </p:blipFill>
        <p:spPr>
          <a:xfrm>
            <a:off x="3516630" y="4295775"/>
            <a:ext cx="1691005" cy="14554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9"/>
            <a:ext cx="12192000" cy="684580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1544" y="409767"/>
            <a:ext cx="1780838" cy="1752549"/>
          </a:xfrm>
          <a:prstGeom prst="rect">
            <a:avLst/>
          </a:prstGeom>
        </p:spPr>
      </p:pic>
      <p:sp>
        <p:nvSpPr>
          <p:cNvPr id="6" name="Rectangle: Rounded Corners 7"/>
          <p:cNvSpPr/>
          <p:nvPr/>
        </p:nvSpPr>
        <p:spPr>
          <a:xfrm>
            <a:off x="3210319" y="1449849"/>
            <a:ext cx="5254906" cy="2060113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4400" b="1" dirty="0">
                <a:ea typeface="Calibri" charset="0"/>
                <a:cs typeface="+mn-lt"/>
              </a:rPr>
              <a:t>NIHONGO NO MICHI</a:t>
            </a:r>
            <a:endParaRPr lang="en-US" altLang="ja-JP" sz="4400" b="1" dirty="0">
              <a:ea typeface="Calibri" charset="0"/>
              <a:cs typeface="+mn-lt"/>
            </a:endParaRPr>
          </a:p>
          <a:p>
            <a:pPr algn="ctr"/>
            <a:r>
              <a:rPr lang="ja-JP" altLang="en-US" sz="4400" b="1" dirty="0">
                <a:latin typeface="UD Digi Kyokasho N" panose="02020400000000000000" pitchFamily="17" charset="-128"/>
                <a:ea typeface="UD Digi Kyokasho N" panose="02020400000000000000" pitchFamily="17" charset="-128"/>
                <a:cs typeface="Calibri" charset="0"/>
              </a:rPr>
              <a:t>日本語の道</a:t>
            </a:r>
            <a:endParaRPr lang="en-US" sz="4400" b="1" dirty="0">
              <a:latin typeface="UD Digi Kyokasho N" panose="02020400000000000000" pitchFamily="17" charset="-128"/>
              <a:ea typeface="UD Digi Kyokasho N" panose="02020400000000000000" pitchFamily="17" charset="-128"/>
              <a:cs typeface="Calibri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8458"/>
          <a:stretch>
            <a:fillRect/>
          </a:stretch>
        </p:blipFill>
        <p:spPr>
          <a:xfrm>
            <a:off x="6465263" y="4224087"/>
            <a:ext cx="1345558" cy="1985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899221" y="4270721"/>
            <a:ext cx="1345559" cy="193923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344" y="4669133"/>
            <a:ext cx="922856" cy="12109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6197"/>
    </mc:Choice>
    <mc:Fallback>
      <p:transition spd="slow" advTm="36197"/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WPS Presentation</Application>
  <PresentationFormat>Широкоэкранный</PresentationFormat>
  <Paragraphs>137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40" baseType="lpstr">
      <vt:lpstr>Arial</vt:lpstr>
      <vt:lpstr>SimSun</vt:lpstr>
      <vt:lpstr>Wingdings</vt:lpstr>
      <vt:lpstr>UD Digi Kyokasho N</vt:lpstr>
      <vt:lpstr>冬青黑体简体中文</vt:lpstr>
      <vt:lpstr>Times New Roman</vt:lpstr>
      <vt:lpstr>MS Mincho</vt:lpstr>
      <vt:lpstr>Hiragino Sans</vt:lpstr>
      <vt:lpstr>Calibri</vt:lpstr>
      <vt:lpstr>Helvetica Neue</vt:lpstr>
      <vt:lpstr>游ゴシック</vt:lpstr>
      <vt:lpstr>苹方-简</vt:lpstr>
      <vt:lpstr>Microsoft YaHei</vt:lpstr>
      <vt:lpstr>汉仪旗黑</vt:lpstr>
      <vt:lpstr>Arial Unicode MS</vt:lpstr>
      <vt:lpstr>Calibri Light</vt:lpstr>
      <vt:lpstr>MS Mincho</vt:lpstr>
      <vt:lpstr>UD Digi Kyokasho N</vt:lpstr>
      <vt:lpstr>宋体-简</vt:lpstr>
      <vt:lpstr>Тема Office</vt:lpstr>
      <vt:lpstr>1_Тема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rakhmiddinnorboboev</cp:lastModifiedBy>
  <cp:revision>35</cp:revision>
  <dcterms:created xsi:type="dcterms:W3CDTF">2026-02-23T09:47:39Z</dcterms:created>
  <dcterms:modified xsi:type="dcterms:W3CDTF">2026-02-23T09:47:39Z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8E26C61D82FE68E302229C69C073630E_43</vt:lpwstr>
  </property>
  <property fmtid="{D5CDD505-2E9C-101B-9397-08002B2CF9AE}" pid="3" name="KSOProductBuildVer">
    <vt:lpwstr>1033-12.1.23155.23155</vt:lpwstr>
  </property>
</Properties>
</file>